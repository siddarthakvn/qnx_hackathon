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55obSlkreivny7WvB0+qkYgSv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433387" y="1280295"/>
            <a:ext cx="8229600" cy="80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b="1" dirty="0"/>
              <a:t>Gesture-Based Emergency Detection &amp; Sensor-Fused Emergency Alert System</a:t>
            </a:r>
            <a:endParaRPr sz="3600"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body" idx="1"/>
          </p:nvPr>
        </p:nvSpPr>
        <p:spPr>
          <a:xfrm>
            <a:off x="886015" y="2784379"/>
            <a:ext cx="7726203" cy="475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dirty="0"/>
              <a:t>Powered by QNX Neutrino RTOS – Q-</a:t>
            </a:r>
            <a:r>
              <a:rPr lang="en-US" sz="2800" dirty="0" err="1"/>
              <a:t>eHACK</a:t>
            </a:r>
            <a:r>
              <a:rPr lang="en-US" sz="2800" dirty="0"/>
              <a:t> 2026</a:t>
            </a:r>
            <a:endParaRPr sz="2800" dirty="0"/>
          </a:p>
          <a:p>
            <a:pPr marL="342900" lvl="0" indent="-3581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endParaRPr lang="en-US" sz="2800" dirty="0"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8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09-Mar-26</a:t>
            </a:r>
            <a:endParaRPr dirty="0"/>
          </a:p>
        </p:txBody>
      </p:sp>
      <p:sp>
        <p:nvSpPr>
          <p:cNvPr id="92" name="Google Shape;92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3" name="Google Shape;93;p1" descr="BVRIT Logo &amp; Brand Assets (SVG, PNG and vector) - Brandfetch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75" y="-38100"/>
            <a:ext cx="21431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 descr="Embedded OS, Support, and Services | BlackBerry QNX | Member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800" y="0"/>
            <a:ext cx="23907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 descr="Pi Square Technologies | LinkedIn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0" y="0"/>
            <a:ext cx="14859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91E6F-D085-F163-1EAD-FB7D9819ED4B}"/>
              </a:ext>
            </a:extLst>
          </p:cNvPr>
          <p:cNvSpPr txBox="1"/>
          <p:nvPr/>
        </p:nvSpPr>
        <p:spPr>
          <a:xfrm>
            <a:off x="767143" y="4023165"/>
            <a:ext cx="732434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ts val="592"/>
              </a:spcBef>
              <a:buClr>
                <a:schemeClr val="dk1"/>
              </a:buClr>
              <a:buSzPts val="3200"/>
            </a:pPr>
            <a:r>
              <a:rPr lang="en-US" dirty="0"/>
              <a:t>TEAM: TEAM IGNITE  </a:t>
            </a:r>
          </a:p>
          <a:p>
            <a:pPr lvl="0" algn="ctr">
              <a:spcBef>
                <a:spcPts val="592"/>
              </a:spcBef>
              <a:buClr>
                <a:schemeClr val="dk1"/>
              </a:buClr>
              <a:buSzPts val="3200"/>
            </a:pPr>
            <a:r>
              <a:rPr lang="en-US" dirty="0"/>
              <a:t>       KVN Sai Siddartha , K Vishnu Varshith</a:t>
            </a:r>
          </a:p>
          <a:p>
            <a:pPr lvl="0" algn="ctr">
              <a:spcBef>
                <a:spcPts val="592"/>
              </a:spcBef>
              <a:buClr>
                <a:schemeClr val="dk1"/>
              </a:buClr>
              <a:buSzPts val="3200"/>
            </a:pPr>
            <a:r>
              <a:rPr lang="en-US" dirty="0"/>
              <a:t>  B V Raju Institute of Technology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381000" y="1245743"/>
            <a:ext cx="7836408" cy="503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    Team Name: </a:t>
            </a:r>
            <a:r>
              <a:rPr lang="en-US" sz="2800" dirty="0"/>
              <a:t>Team Ignite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    Project Title: </a:t>
            </a:r>
            <a:r>
              <a:rPr lang="en-US" sz="2800" dirty="0"/>
              <a:t>Gesture-Based Emergency Detection &amp; Sensor- Fused Emergency Alert System</a:t>
            </a:r>
            <a:endParaRPr sz="2800" dirty="0"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     Project ID: </a:t>
            </a:r>
            <a:r>
              <a:rPr lang="en-US" sz="2800" dirty="0"/>
              <a:t>50</a:t>
            </a: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     College Name: </a:t>
            </a:r>
            <a:r>
              <a:rPr lang="en-US" sz="2800" dirty="0"/>
              <a:t>B V Raju Institute of Technology (BVRIT),    Hyderabad</a:t>
            </a:r>
            <a:endParaRPr sz="2800" dirty="0"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     Team Details:</a:t>
            </a:r>
            <a:endParaRPr sz="2800" dirty="0"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dirty="0"/>
              <a:t>     1. KVN Sai Siddartha  –  Roll No: 23211A04B5</a:t>
            </a:r>
            <a:endParaRPr sz="2800" dirty="0"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dirty="0"/>
              <a:t>     2. K Vishnu Varshith   –  Roll No: 23211A0498</a:t>
            </a:r>
            <a:endParaRPr sz="2800"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sp>
        <p:nvSpPr>
          <p:cNvPr id="106" name="Google Shape;10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8" name="Google Shape;108;p2" descr="BVRIT Logo &amp; Brand Assets (SVG, PNG and vector) - Brandfetch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0"/>
            <a:ext cx="21431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 descr="Embedded OS, Support, and Services | BlackBerry QNX | Member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800" y="0"/>
            <a:ext cx="23907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 descr="Pi Square Technologies | LinkedIn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0" y="0"/>
            <a:ext cx="14859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280722" y="-8229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/>
              <a:t>AGENDA</a:t>
            </a:r>
            <a:endParaRPr sz="3200" dirty="0"/>
          </a:p>
        </p:txBody>
      </p:sp>
      <p:sp>
        <p:nvSpPr>
          <p:cNvPr id="120" name="Google Shape;1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21" name="Google Shape;121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2" name="Google Shape;122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F85D65-89E3-807A-20DE-C10FDEFD8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2" y="397764"/>
            <a:ext cx="85470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3600" b="1" dirty="0"/>
              <a:t>The Real-World Problem</a:t>
            </a:r>
            <a:endParaRPr sz="3600"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There is NO reliable real-time embedded system that detects distress gestures and automatically routes emergency alerts to the correct department – Police, Ambulance, Fire, or Rescue.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Root Cause 1: </a:t>
            </a:r>
            <a:r>
              <a:rPr lang="en-US" dirty="0"/>
              <a:t>No intelligent detection – manual calls and panic buttons fail in crowds, darkness, or when a person is incapacitated.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Root Cause 2: </a:t>
            </a:r>
            <a:r>
              <a:rPr lang="en-US" dirty="0"/>
              <a:t>No sensor validation – false alarms waste emergency resources with no environmental context (gas, temperature).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Root Cause 3: </a:t>
            </a:r>
            <a:r>
              <a:rPr lang="en-US" dirty="0"/>
              <a:t>No real-time guarantees – standard OS (Linux) has non-deterministic scheduling; emergency response cannot tolerate latency spikes.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Root Cause 4: </a:t>
            </a:r>
            <a:r>
              <a:rPr lang="en-US" dirty="0"/>
              <a:t>No auto-routing – no existing system dispatches to the correct department (Police vs Fire vs Ambulance) based on gesture type.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29" name="Google Shape;129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1" name="Google Shape;1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Why This Matters &amp; Challenges</a:t>
            </a:r>
            <a:endParaRPr dirty="0"/>
          </a:p>
        </p:txBody>
      </p:sp>
      <p:sp>
        <p:nvSpPr>
          <p:cNvPr id="138" name="Google Shape;13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FCEAB-FA02-9DEA-CADD-CA6F513A5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0"/>
            <a:ext cx="9144000" cy="660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6F322-132B-D75D-8477-E16C8307B6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C7DB9-A3F3-499D-7886-479EDC680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4" y="0"/>
            <a:ext cx="6982691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5612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>
            <a:spLocks noGrp="1"/>
          </p:cNvSpPr>
          <p:nvPr>
            <p:ph type="title"/>
          </p:nvPr>
        </p:nvSpPr>
        <p:spPr>
          <a:xfrm>
            <a:off x="457200" y="3222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b="1" dirty="0"/>
              <a:t>Our Solution – Gesture-Based Emergency Detection &amp; Sensor-Fused Alert System</a:t>
            </a:r>
            <a:endParaRPr sz="3600" dirty="0"/>
          </a:p>
        </p:txBody>
      </p:sp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457200" y="1830387"/>
            <a:ext cx="6025896" cy="429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“A Raspberry Pi 4 running QNX Neutrino RTOS detects human distress gestures via live camera feed using an on-device AI model, and instantly alerts the correct emergency department – all in real-time.”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Core Feature 1: </a:t>
            </a:r>
            <a:r>
              <a:rPr lang="en-US" dirty="0"/>
              <a:t>Real-time AI Pose Detection on RPi4 – </a:t>
            </a:r>
            <a:r>
              <a:rPr lang="en-US" dirty="0" err="1"/>
              <a:t>MediaPipe</a:t>
            </a:r>
            <a:r>
              <a:rPr lang="en-US" dirty="0"/>
              <a:t> </a:t>
            </a:r>
            <a:r>
              <a:rPr lang="en-US" dirty="0" err="1"/>
              <a:t>PoseLandmarker</a:t>
            </a:r>
            <a:r>
              <a:rPr lang="en-US" dirty="0"/>
              <a:t> classifies 4 emergency gesture types with 2.5 s hold-timer to eliminate false triggers.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Core Feature 2: </a:t>
            </a:r>
            <a:r>
              <a:rPr lang="en-US" dirty="0"/>
              <a:t>QNX Neutrino RTOS Core – </a:t>
            </a:r>
            <a:r>
              <a:rPr lang="en-US" dirty="0" err="1"/>
              <a:t>pthreads</a:t>
            </a:r>
            <a:r>
              <a:rPr lang="en-US" dirty="0"/>
              <a:t> handle UDP alerts, BME688 sensor reads, and GPIO outputs concurrently with deterministic guarantees.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Core Feature 3: </a:t>
            </a:r>
            <a:r>
              <a:rPr lang="en-US" dirty="0"/>
              <a:t>BME688 Sensor Fusion – Temperature, humidity, and gas resistance cross-validate gesture intent (e.g., T-Pose + high temp = confirmed Fire alert).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Core Feature 4: </a:t>
            </a:r>
            <a:r>
              <a:rPr lang="en-US" dirty="0"/>
              <a:t>Multi-channel Alert Output – Gesture-specific buzzer patterns + LED blink modes + GSM SMS with GNSS coordinates sent to Police / Ambulance / Fire / Rescue.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47" name="Google Shape;14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9" name="Google Shape;14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AFBF72-6B48-19BF-8D2A-F8376BE9D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962" y="1600517"/>
            <a:ext cx="2572294" cy="2541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DEF6BE-E374-98F6-67FA-F28ED1A98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962" y="4277487"/>
            <a:ext cx="2810038" cy="18201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8" name="Google Shape;15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  <p:sp>
        <p:nvSpPr>
          <p:cNvPr id="500" name="hdr_inp"/>
          <p:cNvSpPr>
            <a:spLocks noGrp="1"/>
          </p:cNvSpPr>
          <p:nvPr/>
        </p:nvSpPr>
        <p:spPr>
          <a:xfrm>
            <a:off x="310000" y="1150000"/>
            <a:ext cx="2000000" cy="57000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500" b="1" dirty="0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501" name="hdr_prc"/>
          <p:cNvSpPr>
            <a:spLocks noGrp="1"/>
          </p:cNvSpPr>
          <p:nvPr/>
        </p:nvSpPr>
        <p:spPr>
          <a:xfrm>
            <a:off x="2510000" y="1150000"/>
            <a:ext cx="4440000" cy="57000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</a:rPr>
              <a:t>RPi4 PROCESSING PIPELINE   (QNX Neutrino RTOS)</a:t>
            </a:r>
          </a:p>
        </p:txBody>
      </p:sp>
      <p:sp>
        <p:nvSpPr>
          <p:cNvPr id="502" name="hdr_out"/>
          <p:cNvSpPr>
            <a:spLocks noGrp="1"/>
          </p:cNvSpPr>
          <p:nvPr/>
        </p:nvSpPr>
        <p:spPr>
          <a:xfrm>
            <a:off x="7150000" y="1150000"/>
            <a:ext cx="1690000" cy="57000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500" b="1" dirty="0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503" name="inp_503"/>
          <p:cNvSpPr>
            <a:spLocks noGrp="1"/>
          </p:cNvSpPr>
          <p:nvPr/>
        </p:nvSpPr>
        <p:spPr>
          <a:xfrm>
            <a:off x="310000" y="1800000"/>
            <a:ext cx="2000000" cy="1280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dirty="0">
                <a:solidFill>
                  <a:srgbClr val="FFFFFF"/>
                </a:solidFill>
              </a:rPr>
              <a:t>📷  Camera Feed</a:t>
            </a:r>
          </a:p>
          <a:p>
            <a:pPr algn="ctr">
              <a:spcBef>
                <a:spcPts val="0"/>
              </a:spcBef>
            </a:pPr>
            <a:r>
              <a:rPr lang="en-US" sz="1150" dirty="0">
                <a:solidFill>
                  <a:srgbClr val="D6EAF8"/>
                </a:solidFill>
              </a:rPr>
              <a:t>Live video 30fps</a:t>
            </a:r>
          </a:p>
        </p:txBody>
      </p:sp>
      <p:sp>
        <p:nvSpPr>
          <p:cNvPr id="504" name="inp_504"/>
          <p:cNvSpPr>
            <a:spLocks noGrp="1"/>
          </p:cNvSpPr>
          <p:nvPr/>
        </p:nvSpPr>
        <p:spPr>
          <a:xfrm>
            <a:off x="310000" y="3200000"/>
            <a:ext cx="2000000" cy="1280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dirty="0">
                <a:solidFill>
                  <a:srgbClr val="FFFFFF"/>
                </a:solidFill>
              </a:rPr>
              <a:t>🌡  BME688 Sensor</a:t>
            </a:r>
          </a:p>
          <a:p>
            <a:pPr algn="ctr">
              <a:spcBef>
                <a:spcPts val="0"/>
              </a:spcBef>
            </a:pPr>
            <a:r>
              <a:rPr lang="en-US" sz="1150" dirty="0">
                <a:solidFill>
                  <a:srgbClr val="D6EAF8"/>
                </a:solidFill>
              </a:rPr>
              <a:t>Temp / Gas / Humidity (I2C)</a:t>
            </a:r>
          </a:p>
        </p:txBody>
      </p:sp>
      <p:sp>
        <p:nvSpPr>
          <p:cNvPr id="505" name="inp_505"/>
          <p:cNvSpPr>
            <a:spLocks noGrp="1"/>
          </p:cNvSpPr>
          <p:nvPr/>
        </p:nvSpPr>
        <p:spPr>
          <a:xfrm>
            <a:off x="310000" y="4600000"/>
            <a:ext cx="2000000" cy="1280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dirty="0">
                <a:solidFill>
                  <a:srgbClr val="FFFFFF"/>
                </a:solidFill>
              </a:rPr>
              <a:t>🔌  UDP Network</a:t>
            </a:r>
          </a:p>
          <a:p>
            <a:pPr algn="ctr">
              <a:spcBef>
                <a:spcPts val="0"/>
              </a:spcBef>
            </a:pPr>
            <a:r>
              <a:rPr lang="en-US" sz="1150" dirty="0">
                <a:solidFill>
                  <a:srgbClr val="D6EAF8"/>
                </a:solidFill>
              </a:rPr>
              <a:t>Alert trigger port 5005</a:t>
            </a:r>
          </a:p>
        </p:txBody>
      </p:sp>
      <p:sp>
        <p:nvSpPr>
          <p:cNvPr id="506" name="p1_506"/>
          <p:cNvSpPr>
            <a:spLocks noGrp="1"/>
          </p:cNvSpPr>
          <p:nvPr/>
        </p:nvSpPr>
        <p:spPr>
          <a:xfrm>
            <a:off x="2510000" y="1800000"/>
            <a:ext cx="1313333" cy="1860000"/>
          </a:xfrm>
          <a:prstGeom prst="roundRect">
            <a:avLst>
              <a:gd name="adj" fmla="val 25000"/>
            </a:avLst>
          </a:prstGeom>
          <a:solidFill>
            <a:srgbClr val="1E5C3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b="1" dirty="0">
                <a:solidFill>
                  <a:srgbClr val="FFFFFF"/>
                </a:solidFill>
              </a:rPr>
              <a:t>Camera Frame Capture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D5F5E3"/>
                </a:solidFill>
              </a:rPr>
              <a:t>cv2.VideoCapture 30 fps</a:t>
            </a:r>
          </a:p>
        </p:txBody>
      </p:sp>
      <p:sp>
        <p:nvSpPr>
          <p:cNvPr id="507" name="a1_507"/>
          <p:cNvSpPr>
            <a:spLocks noGrp="1"/>
          </p:cNvSpPr>
          <p:nvPr/>
        </p:nvSpPr>
        <p:spPr>
          <a:xfrm>
            <a:off x="3823333" y="2630000"/>
            <a:ext cx="240000" cy="20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777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8" name="p1_508"/>
          <p:cNvSpPr>
            <a:spLocks noGrp="1"/>
          </p:cNvSpPr>
          <p:nvPr/>
        </p:nvSpPr>
        <p:spPr>
          <a:xfrm>
            <a:off x="4063333" y="1800000"/>
            <a:ext cx="1313333" cy="1860000"/>
          </a:xfrm>
          <a:prstGeom prst="roundRect">
            <a:avLst>
              <a:gd name="adj" fmla="val 25000"/>
            </a:avLst>
          </a:prstGeom>
          <a:solidFill>
            <a:srgbClr val="1E5C3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b="1" dirty="0">
                <a:solidFill>
                  <a:srgbClr val="FFFFFF"/>
                </a:solidFill>
              </a:rPr>
              <a:t>AI Pose Detection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D5F5E3"/>
                </a:solidFill>
              </a:rPr>
              <a:t>MediaPipe PoseLandmarker Lite</a:t>
            </a:r>
          </a:p>
        </p:txBody>
      </p:sp>
      <p:sp>
        <p:nvSpPr>
          <p:cNvPr id="509" name="a1_509"/>
          <p:cNvSpPr>
            <a:spLocks noGrp="1"/>
          </p:cNvSpPr>
          <p:nvPr/>
        </p:nvSpPr>
        <p:spPr>
          <a:xfrm>
            <a:off x="5376666" y="2630000"/>
            <a:ext cx="240000" cy="20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777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p1_510"/>
          <p:cNvSpPr>
            <a:spLocks noGrp="1"/>
          </p:cNvSpPr>
          <p:nvPr/>
        </p:nvSpPr>
        <p:spPr>
          <a:xfrm>
            <a:off x="5616666" y="1800000"/>
            <a:ext cx="1313333" cy="1860000"/>
          </a:xfrm>
          <a:prstGeom prst="roundRect">
            <a:avLst>
              <a:gd name="adj" fmla="val 25000"/>
            </a:avLst>
          </a:prstGeom>
          <a:solidFill>
            <a:srgbClr val="1E5C3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b="1" dirty="0">
                <a:solidFill>
                  <a:srgbClr val="FFFFFF"/>
                </a:solidFill>
              </a:rPr>
              <a:t>Gesture Classifier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D5F5E3"/>
                </a:solidFill>
              </a:rPr>
              <a:t>4 types 2.5 s hold timer</a:t>
            </a:r>
          </a:p>
        </p:txBody>
      </p:sp>
      <p:sp>
        <p:nvSpPr>
          <p:cNvPr id="511" name="ad_511"/>
          <p:cNvSpPr>
            <a:spLocks noGrp="1"/>
          </p:cNvSpPr>
          <p:nvPr/>
        </p:nvSpPr>
        <p:spPr>
          <a:xfrm rot="5400000">
            <a:off x="6173332" y="3660000"/>
            <a:ext cx="200000" cy="29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777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2" name="hw_512"/>
          <p:cNvSpPr>
            <a:spLocks noGrp="1"/>
          </p:cNvSpPr>
          <p:nvPr/>
        </p:nvSpPr>
        <p:spPr>
          <a:xfrm>
            <a:off x="3953333" y="3950000"/>
            <a:ext cx="1423333" cy="1860000"/>
          </a:xfrm>
          <a:prstGeom prst="roundRect">
            <a:avLst>
              <a:gd name="adj" fmla="val 25000"/>
            </a:avLst>
          </a:prstGeom>
          <a:solidFill>
            <a:srgbClr val="1E5C3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b="1" dirty="0">
                <a:solidFill>
                  <a:srgbClr val="FFFFFF"/>
                </a:solidFill>
              </a:rPr>
              <a:t>Hardware I/O Driver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D5F5E3"/>
                </a:solidFill>
              </a:rPr>
              <a:t>GPIO + I2C + GSM dispatch</a:t>
            </a:r>
          </a:p>
        </p:txBody>
      </p:sp>
      <p:sp>
        <p:nvSpPr>
          <p:cNvPr id="513" name="a2_513"/>
          <p:cNvSpPr>
            <a:spLocks noGrp="1"/>
          </p:cNvSpPr>
          <p:nvPr/>
        </p:nvSpPr>
        <p:spPr>
          <a:xfrm>
            <a:off x="5376666" y="4780000"/>
            <a:ext cx="240000" cy="20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777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4" name="ad_514"/>
          <p:cNvSpPr>
            <a:spLocks noGrp="1"/>
          </p:cNvSpPr>
          <p:nvPr/>
        </p:nvSpPr>
        <p:spPr>
          <a:xfrm>
            <a:off x="5616666" y="3950000"/>
            <a:ext cx="1313333" cy="1860000"/>
          </a:xfrm>
          <a:prstGeom prst="roundRect">
            <a:avLst>
              <a:gd name="adj" fmla="val 25000"/>
            </a:avLst>
          </a:prstGeom>
          <a:solidFill>
            <a:srgbClr val="1E5C3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b="1" dirty="0">
                <a:solidFill>
                  <a:srgbClr val="FFFFFF"/>
                </a:solidFill>
              </a:rPr>
              <a:t>Alert Decision Engine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D5F5E3"/>
                </a:solidFill>
              </a:rPr>
              <a:t>Per-person state · 5s cooldown</a:t>
            </a:r>
          </a:p>
        </p:txBody>
      </p:sp>
      <p:sp>
        <p:nvSpPr>
          <p:cNvPr id="515" name="a3_515"/>
          <p:cNvSpPr>
            <a:spLocks noGrp="1"/>
          </p:cNvSpPr>
          <p:nvPr/>
        </p:nvSpPr>
        <p:spPr>
          <a:xfrm>
            <a:off x="6929999" y="4780000"/>
            <a:ext cx="220001" cy="20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777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6" name="out_516"/>
          <p:cNvSpPr>
            <a:spLocks noGrp="1"/>
          </p:cNvSpPr>
          <p:nvPr/>
        </p:nvSpPr>
        <p:spPr>
          <a:xfrm>
            <a:off x="7150000" y="1800000"/>
            <a:ext cx="1690000" cy="1280000"/>
          </a:xfrm>
          <a:prstGeom prst="roundRect">
            <a:avLst>
              <a:gd name="adj" fmla="val 25000"/>
            </a:avLst>
          </a:prstGeom>
          <a:solidFill>
            <a:srgbClr val="8B1A1A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🔊  Buzzer Alert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FADBD8"/>
                </a:solidFill>
              </a:rPr>
              <a:t>Gesture-specific beep (GPIO 19)</a:t>
            </a:r>
          </a:p>
        </p:txBody>
      </p:sp>
      <p:sp>
        <p:nvSpPr>
          <p:cNvPr id="517" name="out_517"/>
          <p:cNvSpPr>
            <a:spLocks noGrp="1"/>
          </p:cNvSpPr>
          <p:nvPr/>
        </p:nvSpPr>
        <p:spPr>
          <a:xfrm>
            <a:off x="7150000" y="3200000"/>
            <a:ext cx="1690000" cy="1280000"/>
          </a:xfrm>
          <a:prstGeom prst="roundRect">
            <a:avLst>
              <a:gd name="adj" fmla="val 25000"/>
            </a:avLst>
          </a:prstGeom>
          <a:solidFill>
            <a:srgbClr val="8B1A1A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💡  LED Indicator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FADBD8"/>
                </a:solidFill>
              </a:rPr>
              <a:t>4 blink modes (GPIO 17/27)</a:t>
            </a:r>
          </a:p>
        </p:txBody>
      </p:sp>
      <p:sp>
        <p:nvSpPr>
          <p:cNvPr id="518" name="out_518"/>
          <p:cNvSpPr>
            <a:spLocks noGrp="1"/>
          </p:cNvSpPr>
          <p:nvPr/>
        </p:nvSpPr>
        <p:spPr>
          <a:xfrm>
            <a:off x="7150000" y="4600000"/>
            <a:ext cx="1690000" cy="1280000"/>
          </a:xfrm>
          <a:prstGeom prst="roundRect">
            <a:avLst>
              <a:gd name="adj" fmla="val 25000"/>
            </a:avLst>
          </a:prstGeom>
          <a:solidFill>
            <a:srgbClr val="8B1A1A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📱  GSM + GNSS SMS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FADBD8"/>
                </a:solidFill>
              </a:rPr>
              <a:t>GPS coords to dept number</a:t>
            </a:r>
          </a:p>
        </p:txBody>
      </p:sp>
      <p:sp>
        <p:nvSpPr>
          <p:cNvPr id="519" name="i2p_519"/>
          <p:cNvSpPr>
            <a:spLocks noGrp="1"/>
          </p:cNvSpPr>
          <p:nvPr/>
        </p:nvSpPr>
        <p:spPr>
          <a:xfrm>
            <a:off x="2310000" y="2350000"/>
            <a:ext cx="200000" cy="20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777777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Leveraging QNX RTOS Capabilities</a:t>
            </a:r>
            <a:endParaRPr/>
          </a:p>
        </p:txBody>
      </p:sp>
      <p:sp>
        <p:nvSpPr>
          <p:cNvPr id="164" name="Google Shape;164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Microkernel Architecture  </a:t>
            </a:r>
            <a:r>
              <a:rPr lang="en-US"/>
              <a:t>→  GPIO, I2C (BME688), GSM, and alert logic run as isolated processes. A crash in one cannot bring down the system – critical for life-safety applications.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POSIX pthreads + Priority Preemption  </a:t>
            </a:r>
            <a:r>
              <a:rPr lang="en-US"/>
              <a:t>→  UDP listener, alert executor, and LED heartbeat run as concurrent threads. QNX’s preemptive scheduler guarantees alerts fire without starvation.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POSIX UDP Socket Stack  </a:t>
            </a:r>
            <a:r>
              <a:rPr lang="en-US"/>
              <a:t>→  QNX’s POSIX-compliant networking receives alert triggers with deterministic latency. SO_RCVTIMEO prevents indefinite blocking.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Direct Register I/O via mmap_device_io()  </a:t>
            </a:r>
            <a:r>
              <a:rPr lang="en-US"/>
              <a:t>→  BCM2711 GPIO registers mapped directly. Buzzer + LED driven in microseconds via in32/out32 – zero OS abstraction overhead.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Signal-Based Clean Shutdown  </a:t>
            </a:r>
            <a:r>
              <a:rPr lang="en-US"/>
              <a:t>→  SIGINT/SIGTERM handlers close sockets, free mmap, and reset all GPIO cleanly – essential in RTOS where resource leaks are catastrophic.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Safety-Certifiable Pedigree  </a:t>
            </a:r>
            <a:r>
              <a:rPr lang="en-US"/>
              <a:t>→  QNX Neutrino is ISO 26262 / IEC 61508 certifiable. Our architecture is designed to scale to ASIL-B medical and industrial deployments.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65" name="Google Shape;16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66" name="Google Shape;16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7" name="Google Shape;16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>
            <a:spLocks noGrp="1"/>
          </p:cNvSpPr>
          <p:nvPr>
            <p:ph type="title"/>
          </p:nvPr>
        </p:nvSpPr>
        <p:spPr>
          <a:xfrm>
            <a:off x="0" y="-1280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Implementation Highlights</a:t>
            </a:r>
            <a:endParaRPr dirty="0"/>
          </a:p>
        </p:txBody>
      </p:sp>
      <p:sp>
        <p:nvSpPr>
          <p:cNvPr id="173" name="Google Shape;173;p9"/>
          <p:cNvSpPr txBox="1">
            <a:spLocks noGrp="1"/>
          </p:cNvSpPr>
          <p:nvPr>
            <p:ph type="body" idx="1"/>
          </p:nvPr>
        </p:nvSpPr>
        <p:spPr>
          <a:xfrm>
            <a:off x="296384" y="979000"/>
            <a:ext cx="4300000" cy="4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3 Concurrent </a:t>
            </a:r>
            <a:r>
              <a:rPr lang="en-US" b="1" dirty="0" err="1"/>
              <a:t>pthreads</a:t>
            </a:r>
            <a:r>
              <a:rPr lang="en-US" b="1" dirty="0"/>
              <a:t>:  </a:t>
            </a:r>
            <a:r>
              <a:rPr lang="en-US" dirty="0" err="1"/>
              <a:t>udp_receiver_thread</a:t>
            </a:r>
            <a:r>
              <a:rPr lang="en-US" dirty="0"/>
              <a:t> (alert listener)  +  </a:t>
            </a:r>
            <a:r>
              <a:rPr lang="en-US" dirty="0" err="1"/>
              <a:t>alert_thread</a:t>
            </a:r>
            <a:r>
              <a:rPr lang="en-US" dirty="0"/>
              <a:t> (spawned per event)  +  </a:t>
            </a:r>
            <a:r>
              <a:rPr lang="en-US" dirty="0" err="1"/>
              <a:t>heartbeat_thread</a:t>
            </a:r>
            <a:r>
              <a:rPr lang="en-US" dirty="0"/>
              <a:t> (idle LED blink) – fully isolated, no blocking between tasks.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Alert Thread Flow:  </a:t>
            </a:r>
            <a:r>
              <a:rPr lang="en-US" dirty="0" err="1"/>
              <a:t>mutex_lock</a:t>
            </a:r>
            <a:r>
              <a:rPr lang="en-US" dirty="0"/>
              <a:t> → set </a:t>
            </a:r>
            <a:r>
              <a:rPr lang="en-US" dirty="0" err="1"/>
              <a:t>alert_active</a:t>
            </a:r>
            <a:r>
              <a:rPr lang="en-US" dirty="0"/>
              <a:t>=1 → bme688_read() → </a:t>
            </a:r>
            <a:r>
              <a:rPr lang="en-US" dirty="0" err="1"/>
              <a:t>buzzer_run</a:t>
            </a:r>
            <a:r>
              <a:rPr lang="en-US" dirty="0"/>
              <a:t>(</a:t>
            </a:r>
            <a:r>
              <a:rPr lang="en-US" dirty="0" err="1"/>
              <a:t>on_ms</a:t>
            </a:r>
            <a:r>
              <a:rPr lang="en-US" dirty="0"/>
              <a:t>, </a:t>
            </a:r>
            <a:r>
              <a:rPr lang="en-US" dirty="0" err="1"/>
              <a:t>off_ms</a:t>
            </a:r>
            <a:r>
              <a:rPr lang="en-US" dirty="0"/>
              <a:t>, repeat) → </a:t>
            </a:r>
            <a:r>
              <a:rPr lang="en-US" dirty="0" err="1"/>
              <a:t>led_pattern</a:t>
            </a:r>
            <a:r>
              <a:rPr lang="en-US" dirty="0"/>
              <a:t>(mode, 5000ms) → </a:t>
            </a:r>
            <a:r>
              <a:rPr lang="en-US" dirty="0" err="1"/>
              <a:t>mutex_unlock</a:t>
            </a:r>
            <a:r>
              <a:rPr lang="en-US" dirty="0"/>
              <a:t> → ready.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Bind Retry Loop:  </a:t>
            </a:r>
            <a:r>
              <a:rPr lang="en-US" dirty="0"/>
              <a:t>10-attempt UDP bind loop; on attempt 1 calls slay </a:t>
            </a:r>
            <a:r>
              <a:rPr lang="en-US" dirty="0" err="1"/>
              <a:t>gestsense_qnx</a:t>
            </a:r>
            <a:r>
              <a:rPr lang="en-US" dirty="0"/>
              <a:t> + reads PID file. Zero manual intervention needed on process restart.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Gesture Profile Fallback Table:  </a:t>
            </a:r>
            <a:r>
              <a:rPr lang="en-US" dirty="0"/>
              <a:t>Built-in C struct table maps any gesture string to correct </a:t>
            </a:r>
            <a:r>
              <a:rPr lang="en-US" dirty="0" err="1"/>
              <a:t>buzz_on_ms</a:t>
            </a:r>
            <a:r>
              <a:rPr lang="en-US" dirty="0"/>
              <a:t>, </a:t>
            </a:r>
            <a:r>
              <a:rPr lang="en-US" dirty="0" err="1"/>
              <a:t>buzz_off_ms</a:t>
            </a:r>
            <a:r>
              <a:rPr lang="en-US" dirty="0"/>
              <a:t>, </a:t>
            </a:r>
            <a:r>
              <a:rPr lang="en-US" dirty="0" err="1"/>
              <a:t>buzz_repeat</a:t>
            </a:r>
            <a:r>
              <a:rPr lang="en-US" dirty="0"/>
              <a:t>, </a:t>
            </a:r>
            <a:r>
              <a:rPr lang="en-US" dirty="0" err="1"/>
              <a:t>led_mode</a:t>
            </a:r>
            <a:r>
              <a:rPr lang="en-US" dirty="0"/>
              <a:t>, and department if JSON fields are missing.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QNX-specific fix – struct </a:t>
            </a:r>
            <a:r>
              <a:rPr lang="en-US" b="1" dirty="0" err="1"/>
              <a:t>timeval</a:t>
            </a:r>
            <a:r>
              <a:rPr lang="en-US" b="1" dirty="0"/>
              <a:t>:  </a:t>
            </a:r>
            <a:r>
              <a:rPr lang="en-US" dirty="0"/>
              <a:t>Added #include &lt;sys/</a:t>
            </a:r>
            <a:r>
              <a:rPr lang="en-US" dirty="0" err="1"/>
              <a:t>time.h</a:t>
            </a:r>
            <a:r>
              <a:rPr lang="en-US" dirty="0"/>
              <a:t>&gt; (QNX does not pull it via &lt;</a:t>
            </a:r>
            <a:r>
              <a:rPr lang="en-US" dirty="0" err="1"/>
              <a:t>time.h</a:t>
            </a:r>
            <a:r>
              <a:rPr lang="en-US" dirty="0"/>
              <a:t>&gt;) and replaced C99 designated </a:t>
            </a:r>
            <a:r>
              <a:rPr lang="en-US" dirty="0" err="1"/>
              <a:t>initialisers</a:t>
            </a:r>
            <a:r>
              <a:rPr lang="en-US" dirty="0"/>
              <a:t> with plain assignment to resolve compile error.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74" name="Google Shape;174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75" name="Google Shape;175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76" name="Google Shape;17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  <p:sp>
        <p:nvSpPr>
          <p:cNvPr id="700" name="fhdr"/>
          <p:cNvSpPr>
            <a:spLocks noGrp="1"/>
          </p:cNvSpPr>
          <p:nvPr/>
        </p:nvSpPr>
        <p:spPr>
          <a:xfrm>
            <a:off x="4800000" y="1380000"/>
            <a:ext cx="4000000" cy="31000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50" b="1" dirty="0">
                <a:solidFill>
                  <a:srgbClr val="FFFFFF"/>
                </a:solidFill>
              </a:rPr>
              <a:t>Alert Thread Flow  (QNX C)</a:t>
            </a:r>
          </a:p>
        </p:txBody>
      </p:sp>
      <p:sp>
        <p:nvSpPr>
          <p:cNvPr id="701" name="fbox_701"/>
          <p:cNvSpPr>
            <a:spLocks noGrp="1"/>
          </p:cNvSpPr>
          <p:nvPr/>
        </p:nvSpPr>
        <p:spPr>
          <a:xfrm>
            <a:off x="5400000" y="1760000"/>
            <a:ext cx="2800000" cy="3900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b="1" dirty="0">
                <a:solidFill>
                  <a:srgbClr val="FFFFFF"/>
                </a:solidFill>
              </a:rPr>
              <a:t>UDP Packet Received</a:t>
            </a:r>
          </a:p>
        </p:txBody>
      </p:sp>
      <p:sp>
        <p:nvSpPr>
          <p:cNvPr id="702" name="farr_702"/>
          <p:cNvSpPr>
            <a:spLocks noGrp="1"/>
          </p:cNvSpPr>
          <p:nvPr/>
        </p:nvSpPr>
        <p:spPr>
          <a:xfrm rot="5400000">
            <a:off x="6710000" y="2150000"/>
            <a:ext cx="180000" cy="17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3" name="fbox_703"/>
          <p:cNvSpPr>
            <a:spLocks noGrp="1"/>
          </p:cNvSpPr>
          <p:nvPr/>
        </p:nvSpPr>
        <p:spPr>
          <a:xfrm>
            <a:off x="5400000" y="2320000"/>
            <a:ext cx="2800000" cy="390000"/>
          </a:xfrm>
          <a:prstGeom prst="roundRect">
            <a:avLst>
              <a:gd name="adj" fmla="val 20000"/>
            </a:avLst>
          </a:prstGeom>
          <a:solidFill>
            <a:srgbClr val="2D598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dirty="0">
                <a:solidFill>
                  <a:srgbClr val="FFFFFF"/>
                </a:solidFill>
              </a:rPr>
              <a:t>mutex_lock()</a:t>
            </a:r>
          </a:p>
        </p:txBody>
      </p:sp>
      <p:sp>
        <p:nvSpPr>
          <p:cNvPr id="704" name="farr_704"/>
          <p:cNvSpPr>
            <a:spLocks noGrp="1"/>
          </p:cNvSpPr>
          <p:nvPr/>
        </p:nvSpPr>
        <p:spPr>
          <a:xfrm rot="5400000">
            <a:off x="6710000" y="2710000"/>
            <a:ext cx="180000" cy="17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5" name="fbox_705"/>
          <p:cNvSpPr>
            <a:spLocks noGrp="1"/>
          </p:cNvSpPr>
          <p:nvPr/>
        </p:nvSpPr>
        <p:spPr>
          <a:xfrm>
            <a:off x="5400000" y="2880000"/>
            <a:ext cx="2800000" cy="390000"/>
          </a:xfrm>
          <a:prstGeom prst="roundRect">
            <a:avLst>
              <a:gd name="adj" fmla="val 20000"/>
            </a:avLst>
          </a:prstGeom>
          <a:solidFill>
            <a:srgbClr val="2D598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dirty="0">
                <a:solidFill>
                  <a:srgbClr val="FFFFFF"/>
                </a:solidFill>
              </a:rPr>
              <a:t>set  alert_active = 1</a:t>
            </a:r>
          </a:p>
        </p:txBody>
      </p:sp>
      <p:sp>
        <p:nvSpPr>
          <p:cNvPr id="706" name="farr_706"/>
          <p:cNvSpPr>
            <a:spLocks noGrp="1"/>
          </p:cNvSpPr>
          <p:nvPr/>
        </p:nvSpPr>
        <p:spPr>
          <a:xfrm rot="5400000">
            <a:off x="6710000" y="3270000"/>
            <a:ext cx="180000" cy="17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7" name="fbox_707"/>
          <p:cNvSpPr>
            <a:spLocks noGrp="1"/>
          </p:cNvSpPr>
          <p:nvPr/>
        </p:nvSpPr>
        <p:spPr>
          <a:xfrm>
            <a:off x="5400000" y="3440000"/>
            <a:ext cx="2800000" cy="390000"/>
          </a:xfrm>
          <a:prstGeom prst="roundRect">
            <a:avLst>
              <a:gd name="adj" fmla="val 20000"/>
            </a:avLst>
          </a:prstGeom>
          <a:solidFill>
            <a:srgbClr val="2D598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dirty="0">
                <a:solidFill>
                  <a:srgbClr val="FFFFFF"/>
                </a:solidFill>
              </a:rPr>
              <a:t>bme688_read()  →  env data</a:t>
            </a:r>
          </a:p>
        </p:txBody>
      </p:sp>
      <p:sp>
        <p:nvSpPr>
          <p:cNvPr id="708" name="farr_708"/>
          <p:cNvSpPr>
            <a:spLocks noGrp="1"/>
          </p:cNvSpPr>
          <p:nvPr/>
        </p:nvSpPr>
        <p:spPr>
          <a:xfrm rot="5400000">
            <a:off x="6710000" y="3830000"/>
            <a:ext cx="180000" cy="17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9" name="fbox_709"/>
          <p:cNvSpPr>
            <a:spLocks noGrp="1"/>
          </p:cNvSpPr>
          <p:nvPr/>
        </p:nvSpPr>
        <p:spPr>
          <a:xfrm>
            <a:off x="5400000" y="4000000"/>
            <a:ext cx="2800000" cy="390000"/>
          </a:xfrm>
          <a:prstGeom prst="roundRect">
            <a:avLst>
              <a:gd name="adj" fmla="val 20000"/>
            </a:avLst>
          </a:prstGeom>
          <a:solidFill>
            <a:srgbClr val="2D598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dirty="0">
                <a:solidFill>
                  <a:srgbClr val="FFFFFF"/>
                </a:solidFill>
              </a:rPr>
              <a:t>buzzer_run(on, off, repeat)</a:t>
            </a:r>
          </a:p>
        </p:txBody>
      </p:sp>
      <p:sp>
        <p:nvSpPr>
          <p:cNvPr id="710" name="farr_710"/>
          <p:cNvSpPr>
            <a:spLocks noGrp="1"/>
          </p:cNvSpPr>
          <p:nvPr/>
        </p:nvSpPr>
        <p:spPr>
          <a:xfrm rot="5400000">
            <a:off x="6710000" y="4390000"/>
            <a:ext cx="180000" cy="17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1" name="fbox_711"/>
          <p:cNvSpPr>
            <a:spLocks noGrp="1"/>
          </p:cNvSpPr>
          <p:nvPr/>
        </p:nvSpPr>
        <p:spPr>
          <a:xfrm>
            <a:off x="5400000" y="4560000"/>
            <a:ext cx="2800000" cy="390000"/>
          </a:xfrm>
          <a:prstGeom prst="roundRect">
            <a:avLst>
              <a:gd name="adj" fmla="val 20000"/>
            </a:avLst>
          </a:prstGeom>
          <a:solidFill>
            <a:srgbClr val="2D598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dirty="0">
                <a:solidFill>
                  <a:srgbClr val="FFFFFF"/>
                </a:solidFill>
              </a:rPr>
              <a:t>led_pattern(mode, 5000ms)</a:t>
            </a:r>
          </a:p>
        </p:txBody>
      </p:sp>
      <p:sp>
        <p:nvSpPr>
          <p:cNvPr id="712" name="farr_712"/>
          <p:cNvSpPr>
            <a:spLocks noGrp="1"/>
          </p:cNvSpPr>
          <p:nvPr/>
        </p:nvSpPr>
        <p:spPr>
          <a:xfrm rot="5400000">
            <a:off x="6710000" y="4950000"/>
            <a:ext cx="180000" cy="17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3" name="fbox_713"/>
          <p:cNvSpPr>
            <a:spLocks noGrp="1"/>
          </p:cNvSpPr>
          <p:nvPr/>
        </p:nvSpPr>
        <p:spPr>
          <a:xfrm>
            <a:off x="5400000" y="5120000"/>
            <a:ext cx="2800000" cy="390000"/>
          </a:xfrm>
          <a:prstGeom prst="roundRect">
            <a:avLst>
              <a:gd name="adj" fmla="val 20000"/>
            </a:avLst>
          </a:prstGeom>
          <a:solidFill>
            <a:srgbClr val="1E5C3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50" b="1" dirty="0">
                <a:solidFill>
                  <a:srgbClr val="FFFFFF"/>
                </a:solidFill>
              </a:rPr>
              <a:t>mutex_unlock()  →  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84" name="Google Shape;18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85" name="Google Shape;18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  <p:sp>
        <p:nvSpPr>
          <p:cNvPr id="900" name="th_900"/>
          <p:cNvSpPr>
            <a:spLocks noGrp="1"/>
          </p:cNvSpPr>
          <p:nvPr/>
        </p:nvSpPr>
        <p:spPr>
          <a:xfrm>
            <a:off x="457200" y="1400000"/>
            <a:ext cx="1250000" cy="3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GESTURE</a:t>
            </a:r>
          </a:p>
        </p:txBody>
      </p:sp>
      <p:sp>
        <p:nvSpPr>
          <p:cNvPr id="901" name="th_901"/>
          <p:cNvSpPr>
            <a:spLocks noGrp="1"/>
          </p:cNvSpPr>
          <p:nvPr/>
        </p:nvSpPr>
        <p:spPr>
          <a:xfrm>
            <a:off x="1800000" y="1400000"/>
            <a:ext cx="1310000" cy="3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BODY POSE</a:t>
            </a:r>
          </a:p>
        </p:txBody>
      </p:sp>
      <p:sp>
        <p:nvSpPr>
          <p:cNvPr id="902" name="th_902"/>
          <p:cNvSpPr>
            <a:spLocks noGrp="1"/>
          </p:cNvSpPr>
          <p:nvPr/>
        </p:nvSpPr>
        <p:spPr>
          <a:xfrm>
            <a:off x="3200000" y="1400000"/>
            <a:ext cx="1410000" cy="3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ALERTS DEPT.</a:t>
            </a:r>
          </a:p>
        </p:txBody>
      </p:sp>
      <p:sp>
        <p:nvSpPr>
          <p:cNvPr id="903" name="th_903"/>
          <p:cNvSpPr>
            <a:spLocks noGrp="1"/>
          </p:cNvSpPr>
          <p:nvPr/>
        </p:nvSpPr>
        <p:spPr>
          <a:xfrm>
            <a:off x="4700000" y="1400000"/>
            <a:ext cx="1210000" cy="3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91440" tIns="45720" rIns="91440" bIns="45720" anchor="ctr">
            <a:normAutofit fontScale="70000" lnSpcReduction="20000"/>
          </a:bodyPr>
          <a:lstStyle/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BUZZER PATTERN</a:t>
            </a:r>
          </a:p>
        </p:txBody>
      </p:sp>
      <p:sp>
        <p:nvSpPr>
          <p:cNvPr id="904" name="th_904"/>
          <p:cNvSpPr>
            <a:spLocks noGrp="1"/>
          </p:cNvSpPr>
          <p:nvPr/>
        </p:nvSpPr>
        <p:spPr>
          <a:xfrm>
            <a:off x="6000000" y="1400000"/>
            <a:ext cx="1210000" cy="3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LED MODE</a:t>
            </a:r>
          </a:p>
        </p:txBody>
      </p:sp>
      <p:sp>
        <p:nvSpPr>
          <p:cNvPr id="905" name="th_905"/>
          <p:cNvSpPr>
            <a:spLocks noGrp="1"/>
          </p:cNvSpPr>
          <p:nvPr/>
        </p:nvSpPr>
        <p:spPr>
          <a:xfrm>
            <a:off x="7300000" y="1400000"/>
            <a:ext cx="1355000" cy="3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GPIO</a:t>
            </a:r>
          </a:p>
        </p:txBody>
      </p:sp>
      <p:sp>
        <p:nvSpPr>
          <p:cNvPr id="906" name="gc_906"/>
          <p:cNvSpPr>
            <a:spLocks noGrp="1"/>
          </p:cNvSpPr>
          <p:nvPr/>
        </p:nvSpPr>
        <p:spPr>
          <a:xfrm>
            <a:off x="457200" y="1720000"/>
            <a:ext cx="1250000" cy="76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dirty="0">
                <a:solidFill>
                  <a:srgbClr val="FFFFFF"/>
                </a:solidFill>
              </a:rPr>
              <a:t>AMBULANCE</a:t>
            </a:r>
          </a:p>
        </p:txBody>
      </p:sp>
      <p:sp>
        <p:nvSpPr>
          <p:cNvPr id="907" name="gc_907"/>
          <p:cNvSpPr>
            <a:spLocks noGrp="1"/>
          </p:cNvSpPr>
          <p:nvPr/>
        </p:nvSpPr>
        <p:spPr>
          <a:xfrm>
            <a:off x="1800000" y="1720000"/>
            <a:ext cx="13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Cross Arms</a:t>
            </a:r>
          </a:p>
        </p:txBody>
      </p:sp>
      <p:sp>
        <p:nvSpPr>
          <p:cNvPr id="908" name="gc_908"/>
          <p:cNvSpPr>
            <a:spLocks noGrp="1"/>
          </p:cNvSpPr>
          <p:nvPr/>
        </p:nvSpPr>
        <p:spPr>
          <a:xfrm>
            <a:off x="3200000" y="1720000"/>
            <a:ext cx="14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Hospital / Ambulance</a:t>
            </a:r>
          </a:p>
        </p:txBody>
      </p:sp>
      <p:sp>
        <p:nvSpPr>
          <p:cNvPr id="909" name="gc_909"/>
          <p:cNvSpPr>
            <a:spLocks noGrp="1"/>
          </p:cNvSpPr>
          <p:nvPr/>
        </p:nvSpPr>
        <p:spPr>
          <a:xfrm>
            <a:off x="4700000" y="1720000"/>
            <a:ext cx="12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5 × 200ms beeps</a:t>
            </a:r>
          </a:p>
        </p:txBody>
      </p:sp>
      <p:sp>
        <p:nvSpPr>
          <p:cNvPr id="910" name="gc_910"/>
          <p:cNvSpPr>
            <a:spLocks noGrp="1"/>
          </p:cNvSpPr>
          <p:nvPr/>
        </p:nvSpPr>
        <p:spPr>
          <a:xfrm>
            <a:off x="6000000" y="1720000"/>
            <a:ext cx="12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Red slow blink</a:t>
            </a:r>
          </a:p>
        </p:txBody>
      </p:sp>
      <p:sp>
        <p:nvSpPr>
          <p:cNvPr id="911" name="gc_911"/>
          <p:cNvSpPr>
            <a:spLocks noGrp="1"/>
          </p:cNvSpPr>
          <p:nvPr/>
        </p:nvSpPr>
        <p:spPr>
          <a:xfrm>
            <a:off x="7300000" y="1720000"/>
            <a:ext cx="1385000" cy="76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000" dirty="0">
                <a:solidFill>
                  <a:srgbClr val="FFFFFF"/>
                </a:solidFill>
              </a:rPr>
              <a:t>GPIO 19 (Buzzer)</a:t>
            </a:r>
          </a:p>
        </p:txBody>
      </p:sp>
      <p:sp>
        <p:nvSpPr>
          <p:cNvPr id="912" name="gc_912"/>
          <p:cNvSpPr>
            <a:spLocks noGrp="1"/>
          </p:cNvSpPr>
          <p:nvPr/>
        </p:nvSpPr>
        <p:spPr>
          <a:xfrm>
            <a:off x="457200" y="2520000"/>
            <a:ext cx="1250000" cy="76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dirty="0">
                <a:solidFill>
                  <a:srgbClr val="FFFFFF"/>
                </a:solidFill>
              </a:rPr>
              <a:t>POLICE</a:t>
            </a:r>
          </a:p>
        </p:txBody>
      </p:sp>
      <p:sp>
        <p:nvSpPr>
          <p:cNvPr id="913" name="gc_913"/>
          <p:cNvSpPr>
            <a:spLocks noGrp="1"/>
          </p:cNvSpPr>
          <p:nvPr/>
        </p:nvSpPr>
        <p:spPr>
          <a:xfrm>
            <a:off x="1800000" y="2520000"/>
            <a:ext cx="13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Hands Up Spread</a:t>
            </a:r>
          </a:p>
        </p:txBody>
      </p:sp>
      <p:sp>
        <p:nvSpPr>
          <p:cNvPr id="914" name="gc_914"/>
          <p:cNvSpPr>
            <a:spLocks noGrp="1"/>
          </p:cNvSpPr>
          <p:nvPr/>
        </p:nvSpPr>
        <p:spPr>
          <a:xfrm>
            <a:off x="3200000" y="2520000"/>
            <a:ext cx="14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Police Station</a:t>
            </a:r>
          </a:p>
        </p:txBody>
      </p:sp>
      <p:sp>
        <p:nvSpPr>
          <p:cNvPr id="915" name="gc_915"/>
          <p:cNvSpPr>
            <a:spLocks noGrp="1"/>
          </p:cNvSpPr>
          <p:nvPr/>
        </p:nvSpPr>
        <p:spPr>
          <a:xfrm>
            <a:off x="4700000" y="2520000"/>
            <a:ext cx="12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8 × 100ms rapid</a:t>
            </a:r>
          </a:p>
        </p:txBody>
      </p:sp>
      <p:sp>
        <p:nvSpPr>
          <p:cNvPr id="916" name="gc_916"/>
          <p:cNvSpPr>
            <a:spLocks noGrp="1"/>
          </p:cNvSpPr>
          <p:nvPr/>
        </p:nvSpPr>
        <p:spPr>
          <a:xfrm>
            <a:off x="6000000" y="2520000"/>
            <a:ext cx="12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Both LEDs alternate</a:t>
            </a:r>
          </a:p>
        </p:txBody>
      </p:sp>
      <p:sp>
        <p:nvSpPr>
          <p:cNvPr id="917" name="gc_917"/>
          <p:cNvSpPr>
            <a:spLocks noGrp="1"/>
          </p:cNvSpPr>
          <p:nvPr/>
        </p:nvSpPr>
        <p:spPr>
          <a:xfrm>
            <a:off x="7300000" y="2520000"/>
            <a:ext cx="1385000" cy="76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000" dirty="0">
                <a:solidFill>
                  <a:srgbClr val="FFFFFF"/>
                </a:solidFill>
              </a:rPr>
              <a:t>GPIO 17/27 (LED)</a:t>
            </a:r>
          </a:p>
        </p:txBody>
      </p:sp>
      <p:sp>
        <p:nvSpPr>
          <p:cNvPr id="918" name="gc_918"/>
          <p:cNvSpPr>
            <a:spLocks noGrp="1"/>
          </p:cNvSpPr>
          <p:nvPr/>
        </p:nvSpPr>
        <p:spPr>
          <a:xfrm>
            <a:off x="457200" y="3320000"/>
            <a:ext cx="1250000" cy="7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dirty="0">
                <a:solidFill>
                  <a:srgbClr val="FFFFFF"/>
                </a:solidFill>
              </a:rPr>
              <a:t>FIRE</a:t>
            </a:r>
          </a:p>
        </p:txBody>
      </p:sp>
      <p:sp>
        <p:nvSpPr>
          <p:cNvPr id="919" name="gc_919"/>
          <p:cNvSpPr>
            <a:spLocks noGrp="1"/>
          </p:cNvSpPr>
          <p:nvPr/>
        </p:nvSpPr>
        <p:spPr>
          <a:xfrm>
            <a:off x="1800000" y="3320000"/>
            <a:ext cx="13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T-Pose (arms out)</a:t>
            </a:r>
          </a:p>
        </p:txBody>
      </p:sp>
      <p:sp>
        <p:nvSpPr>
          <p:cNvPr id="920" name="gc_920"/>
          <p:cNvSpPr>
            <a:spLocks noGrp="1"/>
          </p:cNvSpPr>
          <p:nvPr/>
        </p:nvSpPr>
        <p:spPr>
          <a:xfrm>
            <a:off x="3200000" y="3320000"/>
            <a:ext cx="14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Fire Station</a:t>
            </a:r>
          </a:p>
        </p:txBody>
      </p:sp>
      <p:sp>
        <p:nvSpPr>
          <p:cNvPr id="921" name="gc_921"/>
          <p:cNvSpPr>
            <a:spLocks noGrp="1"/>
          </p:cNvSpPr>
          <p:nvPr/>
        </p:nvSpPr>
        <p:spPr>
          <a:xfrm>
            <a:off x="4700000" y="3320000"/>
            <a:ext cx="12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3 × 500ms long</a:t>
            </a:r>
          </a:p>
        </p:txBody>
      </p:sp>
      <p:sp>
        <p:nvSpPr>
          <p:cNvPr id="922" name="gc_922"/>
          <p:cNvSpPr>
            <a:spLocks noGrp="1"/>
          </p:cNvSpPr>
          <p:nvPr/>
        </p:nvSpPr>
        <p:spPr>
          <a:xfrm>
            <a:off x="6000000" y="3320000"/>
            <a:ext cx="12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Red fast blink</a:t>
            </a:r>
          </a:p>
        </p:txBody>
      </p:sp>
      <p:sp>
        <p:nvSpPr>
          <p:cNvPr id="923" name="gc_923"/>
          <p:cNvSpPr>
            <a:spLocks noGrp="1"/>
          </p:cNvSpPr>
          <p:nvPr/>
        </p:nvSpPr>
        <p:spPr>
          <a:xfrm>
            <a:off x="7300000" y="3320000"/>
            <a:ext cx="1385000" cy="7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000" dirty="0">
                <a:solidFill>
                  <a:srgbClr val="FFFFFF"/>
                </a:solidFill>
              </a:rPr>
              <a:t>GPIO 17/27 (LED)</a:t>
            </a:r>
          </a:p>
        </p:txBody>
      </p:sp>
      <p:sp>
        <p:nvSpPr>
          <p:cNvPr id="924" name="gc_924"/>
          <p:cNvSpPr>
            <a:spLocks noGrp="1"/>
          </p:cNvSpPr>
          <p:nvPr/>
        </p:nvSpPr>
        <p:spPr>
          <a:xfrm>
            <a:off x="457200" y="4120000"/>
            <a:ext cx="1250000" cy="76000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dirty="0">
                <a:solidFill>
                  <a:srgbClr val="FFFFFF"/>
                </a:solidFill>
              </a:rPr>
              <a:t>DISTRESS</a:t>
            </a:r>
          </a:p>
        </p:txBody>
      </p:sp>
      <p:sp>
        <p:nvSpPr>
          <p:cNvPr id="925" name="gc_925"/>
          <p:cNvSpPr>
            <a:spLocks noGrp="1"/>
          </p:cNvSpPr>
          <p:nvPr/>
        </p:nvSpPr>
        <p:spPr>
          <a:xfrm>
            <a:off x="1800000" y="4120000"/>
            <a:ext cx="13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Hands Behind Head</a:t>
            </a:r>
          </a:p>
        </p:txBody>
      </p:sp>
      <p:sp>
        <p:nvSpPr>
          <p:cNvPr id="926" name="gc_926"/>
          <p:cNvSpPr>
            <a:spLocks noGrp="1"/>
          </p:cNvSpPr>
          <p:nvPr/>
        </p:nvSpPr>
        <p:spPr>
          <a:xfrm>
            <a:off x="3200000" y="4120000"/>
            <a:ext cx="14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Rescue / Disaster</a:t>
            </a:r>
          </a:p>
        </p:txBody>
      </p:sp>
      <p:sp>
        <p:nvSpPr>
          <p:cNvPr id="927" name="gc_927"/>
          <p:cNvSpPr>
            <a:spLocks noGrp="1"/>
          </p:cNvSpPr>
          <p:nvPr/>
        </p:nvSpPr>
        <p:spPr>
          <a:xfrm>
            <a:off x="4700000" y="4120000"/>
            <a:ext cx="12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6 × 300ms SOS</a:t>
            </a:r>
          </a:p>
        </p:txBody>
      </p:sp>
      <p:sp>
        <p:nvSpPr>
          <p:cNvPr id="928" name="gc_928"/>
          <p:cNvSpPr>
            <a:spLocks noGrp="1"/>
          </p:cNvSpPr>
          <p:nvPr/>
        </p:nvSpPr>
        <p:spPr>
          <a:xfrm>
            <a:off x="6000000" y="4120000"/>
            <a:ext cx="1210000" cy="7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100" dirty="0">
                <a:solidFill>
                  <a:srgbClr val="222222"/>
                </a:solidFill>
              </a:rPr>
              <a:t>Red steady ON</a:t>
            </a:r>
          </a:p>
        </p:txBody>
      </p:sp>
      <p:sp>
        <p:nvSpPr>
          <p:cNvPr id="929" name="gc_929"/>
          <p:cNvSpPr>
            <a:spLocks noGrp="1"/>
          </p:cNvSpPr>
          <p:nvPr/>
        </p:nvSpPr>
        <p:spPr>
          <a:xfrm>
            <a:off x="7300000" y="4120000"/>
            <a:ext cx="1385000" cy="76000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000" dirty="0">
                <a:solidFill>
                  <a:srgbClr val="FFFFFF"/>
                </a:solidFill>
              </a:rPr>
              <a:t>GPIO 17/27 (LED)</a:t>
            </a:r>
          </a:p>
        </p:txBody>
      </p:sp>
      <p:sp>
        <p:nvSpPr>
          <p:cNvPr id="930" name="afa_930"/>
          <p:cNvSpPr>
            <a:spLocks noGrp="1"/>
          </p:cNvSpPr>
          <p:nvPr/>
        </p:nvSpPr>
        <p:spPr>
          <a:xfrm>
            <a:off x="457200" y="5020000"/>
            <a:ext cx="8686800" cy="40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200" dirty="0">
                <a:solidFill>
                  <a:srgbClr val="FFFFFF"/>
                </a:solidFill>
              </a:rPr>
              <a:t>⚡  Anti-False-Alarm: 2.5s sustained hold  •  5s per-person cooldown  •  Multi-person tracking (up to 4)  •  Min visibility 0.18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What Makes This Unique – Innovation &amp; Originality</a:t>
            </a:r>
            <a:endParaRPr/>
          </a:p>
        </p:txBody>
      </p:sp>
      <p:sp>
        <p:nvSpPr>
          <p:cNvPr id="191" name="Google Shape;191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AI + RTOS on One Device:  </a:t>
            </a:r>
            <a:r>
              <a:rPr lang="en-US"/>
              <a:t>Runs AI pose detection AND real-time hardware control on a single RPi4 with QNX – no cloud, no laptop dependency. Everything edge-computed on the device.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Sensor-Validated Alerts:  </a:t>
            </a:r>
            <a:r>
              <a:rPr lang="en-US"/>
              <a:t>BME688 cross-validates gesture intent – T-Pose + elevated temperature = confirmed fire. Drastically reduces false positives in real deployments.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4-Department Auto-Routing:  </a:t>
            </a:r>
            <a:r>
              <a:rPr lang="en-US"/>
              <a:t>Each gesture uniquely maps to a department with distinct buzzer + LED signature. Response teams know the emergency type before arrival at scene.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Zero-Dependency C Driver Stack:  </a:t>
            </a:r>
            <a:r>
              <a:rPr lang="en-US"/>
              <a:t>QNX C code uses only POSIX sockets + pthreads + direct BCM2711 register I/O. No third-party libraries – maximally portable to any QNX deployment.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Differs from standard solutions:  </a:t>
            </a:r>
            <a:r>
              <a:rPr lang="en-US"/>
              <a:t>Thread isolation, signal-based shutdown, bind retry loops, mutex-protected state, and PID-file process management make this production-grade – not a prototype.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92" name="Google Shape;19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193" name="Google Shape;19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94" name="Google Shape;194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202" name="Google Shape;20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03" name="Google Shape;20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  <p:sp>
        <p:nvSpPr>
          <p:cNvPr id="1100" name="badge_1100"/>
          <p:cNvSpPr>
            <a:spLocks noGrp="1"/>
          </p:cNvSpPr>
          <p:nvPr/>
        </p:nvSpPr>
        <p:spPr>
          <a:xfrm>
            <a:off x="1097000" y="1500000"/>
            <a:ext cx="500000" cy="50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01" name="stitle_1101"/>
          <p:cNvSpPr>
            <a:spLocks noGrp="1"/>
          </p:cNvSpPr>
          <p:nvPr/>
        </p:nvSpPr>
        <p:spPr>
          <a:xfrm>
            <a:off x="372000" y="2050000"/>
            <a:ext cx="1950000" cy="480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500" b="1" dirty="0">
                <a:solidFill>
                  <a:srgbClr val="FFFFFF"/>
                </a:solidFill>
              </a:rPr>
              <a:t>BOOT</a:t>
            </a:r>
          </a:p>
        </p:txBody>
      </p:sp>
      <p:sp>
        <p:nvSpPr>
          <p:cNvPr id="1102" name="sbody_1102"/>
          <p:cNvSpPr>
            <a:spLocks noGrp="1"/>
          </p:cNvSpPr>
          <p:nvPr/>
        </p:nvSpPr>
        <p:spPr>
          <a:xfrm>
            <a:off x="372000" y="2570000"/>
            <a:ext cx="1950000" cy="2100000"/>
          </a:xfrm>
          <a:prstGeom prst="rect">
            <a:avLst/>
          </a:prstGeom>
          <a:solidFill>
            <a:srgbClr val="E8F4FD"/>
          </a:solidFill>
          <a:ln w="19050">
            <a:solidFill>
              <a:srgbClr val="1565C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QNX Neutrino boots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Camera initialises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AI model loads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Green LED heartbeat → System online</a:t>
            </a:r>
          </a:p>
        </p:txBody>
      </p:sp>
      <p:sp>
        <p:nvSpPr>
          <p:cNvPr id="1103" name="darr_1103"/>
          <p:cNvSpPr>
            <a:spLocks noGrp="1"/>
          </p:cNvSpPr>
          <p:nvPr/>
        </p:nvSpPr>
        <p:spPr>
          <a:xfrm>
            <a:off x="2322000" y="3000000"/>
            <a:ext cx="200000" cy="20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4" name="badge_1104"/>
          <p:cNvSpPr>
            <a:spLocks noGrp="1"/>
          </p:cNvSpPr>
          <p:nvPr/>
        </p:nvSpPr>
        <p:spPr>
          <a:xfrm>
            <a:off x="3247000" y="1500000"/>
            <a:ext cx="500000" cy="500000"/>
          </a:xfrm>
          <a:prstGeom prst="rect">
            <a:avLst/>
          </a:prstGeom>
          <a:solidFill>
            <a:srgbClr val="1E5C3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05" name="stitle_1105"/>
          <p:cNvSpPr>
            <a:spLocks noGrp="1"/>
          </p:cNvSpPr>
          <p:nvPr/>
        </p:nvSpPr>
        <p:spPr>
          <a:xfrm>
            <a:off x="2522000" y="2050000"/>
            <a:ext cx="1950000" cy="480000"/>
          </a:xfrm>
          <a:prstGeom prst="rect">
            <a:avLst/>
          </a:prstGeom>
          <a:solidFill>
            <a:srgbClr val="1E5C3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500" b="1" dirty="0">
                <a:solidFill>
                  <a:srgbClr val="FFFFFF"/>
                </a:solidFill>
              </a:rPr>
              <a:t>GESTURE</a:t>
            </a:r>
          </a:p>
        </p:txBody>
      </p:sp>
      <p:sp>
        <p:nvSpPr>
          <p:cNvPr id="1106" name="sbody_1106"/>
          <p:cNvSpPr>
            <a:spLocks noGrp="1"/>
          </p:cNvSpPr>
          <p:nvPr/>
        </p:nvSpPr>
        <p:spPr>
          <a:xfrm>
            <a:off x="2522000" y="2570000"/>
            <a:ext cx="1950000" cy="2100000"/>
          </a:xfrm>
          <a:prstGeom prst="rect">
            <a:avLst/>
          </a:prstGeom>
          <a:solidFill>
            <a:srgbClr val="E9F7EF"/>
          </a:solidFill>
          <a:ln w="19050">
            <a:solidFill>
              <a:srgbClr val="1E5C38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Hold pose for 2.5 s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T-Pose → Fire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Cross Arms → Ambulance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Hands Up → Police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Hands Behind Head → Distress</a:t>
            </a:r>
          </a:p>
        </p:txBody>
      </p:sp>
      <p:sp>
        <p:nvSpPr>
          <p:cNvPr id="1107" name="darr_1107"/>
          <p:cNvSpPr>
            <a:spLocks noGrp="1"/>
          </p:cNvSpPr>
          <p:nvPr/>
        </p:nvSpPr>
        <p:spPr>
          <a:xfrm>
            <a:off x="4472000" y="3000000"/>
            <a:ext cx="200000" cy="20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8" name="badge_1108"/>
          <p:cNvSpPr>
            <a:spLocks noGrp="1"/>
          </p:cNvSpPr>
          <p:nvPr/>
        </p:nvSpPr>
        <p:spPr>
          <a:xfrm>
            <a:off x="5397000" y="1500000"/>
            <a:ext cx="500000" cy="50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09" name="stitle_1109"/>
          <p:cNvSpPr>
            <a:spLocks noGrp="1"/>
          </p:cNvSpPr>
          <p:nvPr/>
        </p:nvSpPr>
        <p:spPr>
          <a:xfrm>
            <a:off x="4672000" y="2050000"/>
            <a:ext cx="1950000" cy="48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wrap="square" lIns="91440" tIns="45720" rIns="91440" bIns="45720" anchor="ctr">
            <a:normAutofit fontScale="92500" lnSpcReduction="10000"/>
          </a:bodyPr>
          <a:lstStyle/>
          <a:p>
            <a:pPr algn="ctr">
              <a:spcBef>
                <a:spcPts val="0"/>
              </a:spcBef>
            </a:pPr>
            <a:r>
              <a:rPr lang="en-US" sz="1500" b="1" dirty="0">
                <a:solidFill>
                  <a:srgbClr val="FFFFFF"/>
                </a:solidFill>
              </a:rPr>
              <a:t>HARDWARE RESPONSE</a:t>
            </a:r>
          </a:p>
        </p:txBody>
      </p:sp>
      <p:sp>
        <p:nvSpPr>
          <p:cNvPr id="1110" name="sbody_1110"/>
          <p:cNvSpPr>
            <a:spLocks noGrp="1"/>
          </p:cNvSpPr>
          <p:nvPr/>
        </p:nvSpPr>
        <p:spPr>
          <a:xfrm>
            <a:off x="4672000" y="2570000"/>
            <a:ext cx="1950000" cy="2100000"/>
          </a:xfrm>
          <a:prstGeom prst="rect">
            <a:avLst/>
          </a:prstGeom>
          <a:solidFill>
            <a:srgbClr val="FEF9E7"/>
          </a:solidFill>
          <a:ln w="19050">
            <a:solidFill>
              <a:srgbClr val="D354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BME688 reads env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Buzzer fires pattern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LED drives blink mode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Console logs alert</a:t>
            </a:r>
          </a:p>
        </p:txBody>
      </p:sp>
      <p:sp>
        <p:nvSpPr>
          <p:cNvPr id="1111" name="darr_1111"/>
          <p:cNvSpPr>
            <a:spLocks noGrp="1"/>
          </p:cNvSpPr>
          <p:nvPr/>
        </p:nvSpPr>
        <p:spPr>
          <a:xfrm>
            <a:off x="6622000" y="3000000"/>
            <a:ext cx="200000" cy="20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2" name="badge_1112"/>
          <p:cNvSpPr>
            <a:spLocks noGrp="1"/>
          </p:cNvSpPr>
          <p:nvPr/>
        </p:nvSpPr>
        <p:spPr>
          <a:xfrm>
            <a:off x="7547000" y="1500000"/>
            <a:ext cx="500000" cy="50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113" name="stitle_1113"/>
          <p:cNvSpPr>
            <a:spLocks noGrp="1"/>
          </p:cNvSpPr>
          <p:nvPr/>
        </p:nvSpPr>
        <p:spPr>
          <a:xfrm>
            <a:off x="6822000" y="2050000"/>
            <a:ext cx="1950000" cy="48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500" b="1" dirty="0">
                <a:solidFill>
                  <a:srgbClr val="FFFFFF"/>
                </a:solidFill>
              </a:rPr>
              <a:t>GSM DISPATCH</a:t>
            </a:r>
          </a:p>
        </p:txBody>
      </p:sp>
      <p:sp>
        <p:nvSpPr>
          <p:cNvPr id="1114" name="sbody_1114"/>
          <p:cNvSpPr>
            <a:spLocks noGrp="1"/>
          </p:cNvSpPr>
          <p:nvPr/>
        </p:nvSpPr>
        <p:spPr>
          <a:xfrm>
            <a:off x="6822000" y="2570000"/>
            <a:ext cx="1950000" cy="2100000"/>
          </a:xfrm>
          <a:prstGeom prst="rect">
            <a:avLst/>
          </a:prstGeom>
          <a:solidFill>
            <a:srgbClr val="F5EEF8"/>
          </a:solidFill>
          <a:ln w="19050">
            <a:solidFill>
              <a:srgbClr val="8E44AD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SMS + GNSS coords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Auto-sent to dept.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Response team gets</a:t>
            </a:r>
          </a:p>
          <a:p>
            <a:pPr algn="l">
              <a:spcBef>
                <a:spcPts val="0"/>
              </a:spcBef>
            </a:pPr>
            <a:r>
              <a:rPr lang="en-US" sz="1150" dirty="0">
                <a:solidFill>
                  <a:srgbClr val="111111"/>
                </a:solidFill>
              </a:rPr>
              <a:t>• location pre-dispatch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Real-World Impact &amp; Applications</a:t>
            </a:r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Healthcare:  </a:t>
            </a:r>
            <a:r>
              <a:rPr lang="en-US"/>
              <a:t>Silent patient distress detection in ICUs and elderly care. BME688 detects anaesthetic gas leaks as a secondary safety layer alongside gesture alerts.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Smart Cities:  </a:t>
            </a:r>
            <a:r>
              <a:rPr lang="en-US"/>
              <a:t>CCTV gesture alerting in malls, airports, and metro stations. Replaces panic buttons with contactless, camera-based gesture detection – always available, zero hardware installation at point-of-need.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Industrial IoT:  </a:t>
            </a:r>
            <a:r>
              <a:rPr lang="en-US"/>
              <a:t>Worker distress in hazardous environments. BME688 adds chemical gas hazard detection to every emergency trigger, enabling dual-channel safety validation.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Disaster Response:  </a:t>
            </a:r>
            <a:r>
              <a:rPr lang="en-US"/>
              <a:t>Trapped persons signal DISTRESS gesture. GNSS coordinates embedded in GSM SMS direct rescue teams to exact location instantly – no voice call required.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Certification Path:  </a:t>
            </a:r>
            <a:r>
              <a:rPr lang="en-US"/>
              <a:t>QNX Neutrino is ISO 26262 / IEC 61508 certifiable. This system’s architecture is designed to scale to ASIL-B safety-critical deployments in medical and automotive domains.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Thank You!</a:t>
            </a:r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“A QNX-powered real-time embedded system that detects human distress gestures and instantly routes sensor-validated emergency alerts to the correct response department – Police, Ambulance, Fire, or Rescue.”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Team Ignite  |  B V Raju Institute of Technology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KVN Sai Siddartha – 23211A04B5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 Vishnu Varshith – 23211A0498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One Gesture. Every Sensor. Instant Alert.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Questions?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09-Mar-26</a:t>
            </a:r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21" name="Google Shape;22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QnX Everywhere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1563</Words>
  <Application>Microsoft Office PowerPoint</Application>
  <PresentationFormat>On-screen Show (4:3)</PresentationFormat>
  <Paragraphs>198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Gesture-Based Emergency Detection &amp; Sensor-Fused Emergency Alert System</vt:lpstr>
      <vt:lpstr>PowerPoint Presentation</vt:lpstr>
      <vt:lpstr>AGENDA</vt:lpstr>
      <vt:lpstr>The Real-World Problem</vt:lpstr>
      <vt:lpstr>Why This Matters &amp; Challenges</vt:lpstr>
      <vt:lpstr>PowerPoint Presentation</vt:lpstr>
      <vt:lpstr>Our Solution – Gesture-Based Emergency Detection &amp; Sensor-Fused Alert System</vt:lpstr>
      <vt:lpstr>PowerPoint Presentation</vt:lpstr>
      <vt:lpstr>Leveraging QNX RTOS Capabilities</vt:lpstr>
      <vt:lpstr>Implementation Highlights</vt:lpstr>
      <vt:lpstr>PowerPoint Presentation</vt:lpstr>
      <vt:lpstr>What Makes This Unique – Innovation &amp; Originality</vt:lpstr>
      <vt:lpstr>PowerPoint Presentation</vt:lpstr>
      <vt:lpstr>Real-World Impact &amp; Applications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Sashank K</cp:lastModifiedBy>
  <cp:revision>7</cp:revision>
  <dcterms:created xsi:type="dcterms:W3CDTF">2006-08-16T00:00:00Z</dcterms:created>
  <dcterms:modified xsi:type="dcterms:W3CDTF">2026-03-14T15:49:13Z</dcterms:modified>
</cp:coreProperties>
</file>