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43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421632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8ED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176" y="2932176"/>
            <a:ext cx="12203176" cy="4233293"/>
          </a:xfrm>
          <a:prstGeom prst="rect">
            <a:avLst/>
          </a:prstGeom>
          <a:solidFill>
            <a:srgbClr val="F5F5D8"/>
          </a:solidFill>
          <a:ln w="12700">
            <a:solidFill>
              <a:srgbClr val="F5F5D8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73152"/>
            <a:ext cx="2011680" cy="5943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961120" y="45720"/>
            <a:ext cx="30175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2560" y="91440"/>
            <a:ext cx="868680" cy="640080"/>
          </a:xfrm>
          <a:prstGeom prst="rect">
            <a:avLst/>
          </a:prstGeom>
        </p:spPr>
      </p:pic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12680" y="91440"/>
            <a:ext cx="1828800" cy="64008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2286000" y="-49311"/>
            <a:ext cx="6583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D2D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Q-eHack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2286000" y="384048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D2D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 V Raju Institute of Technology</a:t>
            </a:r>
            <a:endParaRPr lang="en-US" sz="1300" dirty="0"/>
          </a:p>
        </p:txBody>
      </p:sp>
      <p:sp>
        <p:nvSpPr>
          <p:cNvPr id="10" name="Text 5"/>
          <p:cNvSpPr/>
          <p:nvPr/>
        </p:nvSpPr>
        <p:spPr>
          <a:xfrm>
            <a:off x="3309620" y="658368"/>
            <a:ext cx="5560060" cy="20116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950" b="1" dirty="0">
                <a:solidFill>
                  <a:srgbClr val="2D2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Project Title: Gesture-Based Emergency Detection and Sensor-Fused Emergency Alert System</a:t>
            </a:r>
            <a:endParaRPr lang="en-US" sz="950" dirty="0"/>
          </a:p>
        </p:txBody>
      </p:sp>
      <p:sp>
        <p:nvSpPr>
          <p:cNvPr id="11" name="Text 6"/>
          <p:cNvSpPr/>
          <p:nvPr/>
        </p:nvSpPr>
        <p:spPr>
          <a:xfrm>
            <a:off x="3309620" y="850392"/>
            <a:ext cx="5560060" cy="16459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850" b="1" dirty="0">
                <a:solidFill>
                  <a:srgbClr val="2D2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Team Name &amp; Project ID: Team IGNITE | 50</a:t>
            </a:r>
            <a:endParaRPr lang="en-US" sz="850" dirty="0"/>
          </a:p>
        </p:txBody>
      </p:sp>
      <p:sp>
        <p:nvSpPr>
          <p:cNvPr id="14" name="Text 9"/>
          <p:cNvSpPr/>
          <p:nvPr/>
        </p:nvSpPr>
        <p:spPr>
          <a:xfrm>
            <a:off x="6217920" y="105156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15" name="Text 10"/>
          <p:cNvSpPr/>
          <p:nvPr/>
        </p:nvSpPr>
        <p:spPr>
          <a:xfrm>
            <a:off x="9052560" y="105156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16" name="Text 11"/>
          <p:cNvSpPr/>
          <p:nvPr/>
        </p:nvSpPr>
        <p:spPr>
          <a:xfrm>
            <a:off x="109728" y="129844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u="sng" dirty="0">
                <a:solidFill>
                  <a:srgbClr val="2D2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900" dirty="0"/>
          </a:p>
        </p:txBody>
      </p:sp>
      <p:sp>
        <p:nvSpPr>
          <p:cNvPr id="17" name="Text 12"/>
          <p:cNvSpPr/>
          <p:nvPr/>
        </p:nvSpPr>
        <p:spPr>
          <a:xfrm>
            <a:off x="109728" y="1527048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/>
            <a:r>
              <a:rPr lang="en-US" sz="800" b="1" dirty="0">
                <a:solidFill>
                  <a:srgbClr val="2D2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Gesture-Based Emergency Detection and Sensor-Fused Emergency Alert System</a:t>
            </a:r>
            <a:r>
              <a:rPr lang="en-US" sz="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an embedded, camera-based emergency alert system that detects human distress gestures in real-time using AI pose estimation running entirely on a Raspberry Pi 4 (QNX RTOS). It bridges the critical gap between a person in danger and the nearest emergency response team — without requiring voice communication or internet connectivity.</a:t>
            </a:r>
            <a:endParaRPr lang="en-US" sz="800" dirty="0"/>
          </a:p>
        </p:txBody>
      </p:sp>
      <p:sp>
        <p:nvSpPr>
          <p:cNvPr id="18" name="Text 13"/>
          <p:cNvSpPr/>
          <p:nvPr/>
        </p:nvSpPr>
        <p:spPr>
          <a:xfrm>
            <a:off x="109728" y="237744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u="sng" dirty="0">
                <a:solidFill>
                  <a:srgbClr val="2D2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109728" y="2596896"/>
            <a:ext cx="2834640" cy="5716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n-US" sz="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People in emergencies often cannot speak, dial, or type for help
• Existing systems require internet or conscious verbal input
• No unified system routes to the correct department automatically
• False alerts in voice/sensor-only systems waste critical response time</a:t>
            </a:r>
            <a:endParaRPr lang="en-US" sz="800" dirty="0"/>
          </a:p>
          <a:p>
            <a:pPr algn="just"/>
            <a:endParaRPr lang="en-US" sz="750" dirty="0">
              <a:solidFill>
                <a:srgbClr val="22222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just">
              <a:buNone/>
            </a:pPr>
            <a:endParaRPr lang="en-US" sz="750" dirty="0"/>
          </a:p>
        </p:txBody>
      </p:sp>
      <p:sp>
        <p:nvSpPr>
          <p:cNvPr id="20" name="Text 15"/>
          <p:cNvSpPr/>
          <p:nvPr/>
        </p:nvSpPr>
        <p:spPr>
          <a:xfrm>
            <a:off x="109728" y="322553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u="sng" dirty="0">
                <a:solidFill>
                  <a:srgbClr val="2D2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09728" y="345413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n-US" sz="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system = uses a USB camera connected to RPi4 running QNX RTOS to capture video, perform MediaPipe pose estimation on-device, and classify four distress gestures. On a 2.5-second confirmed hold, the RPi4 triggers buzzer/LED alerts, reads BME688 environmental data for sensor fusion, and dispatches a GPS-tagged SMS to the correct emergency department via GSM.</a:t>
            </a:r>
            <a:endParaRPr lang="en-US" sz="800" dirty="0"/>
          </a:p>
        </p:txBody>
      </p:sp>
      <p:sp>
        <p:nvSpPr>
          <p:cNvPr id="22" name="Text 17"/>
          <p:cNvSpPr/>
          <p:nvPr/>
        </p:nvSpPr>
        <p:spPr>
          <a:xfrm>
            <a:off x="109728" y="4152997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u="sng" dirty="0">
                <a:solidFill>
                  <a:srgbClr val="2D2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Impact &amp; Relevance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109728" y="4354165"/>
            <a:ext cx="2834640" cy="112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/>
            <a:r>
              <a:rPr lang="en-US" sz="800" dirty="0"/>
              <a:t>Applicable in hospitals, public spaces, banks, and schools. QNX RTOS ensures deterministic, fault-tolerant response — critical for real-time safety. Scalable to smart city infrastructure and IoT emergency networks. give more of this matter</a:t>
            </a:r>
          </a:p>
        </p:txBody>
      </p:sp>
      <p:sp>
        <p:nvSpPr>
          <p:cNvPr id="24" name="Text 19"/>
          <p:cNvSpPr/>
          <p:nvPr/>
        </p:nvSpPr>
        <p:spPr>
          <a:xfrm>
            <a:off x="3154680" y="129844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u="sng" dirty="0">
                <a:solidFill>
                  <a:srgbClr val="2D2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Approach &amp; QNX RTOS Integration</a:t>
            </a:r>
            <a:endParaRPr lang="en-US" sz="900" dirty="0"/>
          </a:p>
        </p:txBody>
      </p:sp>
      <p:sp>
        <p:nvSpPr>
          <p:cNvPr id="25" name="Text 20"/>
          <p:cNvSpPr/>
          <p:nvPr/>
        </p:nvSpPr>
        <p:spPr>
          <a:xfrm>
            <a:off x="3154680" y="152704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System Architecture:</a:t>
            </a:r>
            <a:endParaRPr lang="en-US" sz="750" dirty="0"/>
          </a:p>
        </p:txBody>
      </p:sp>
      <p:sp>
        <p:nvSpPr>
          <p:cNvPr id="26" name="Shape 21"/>
          <p:cNvSpPr/>
          <p:nvPr/>
        </p:nvSpPr>
        <p:spPr>
          <a:xfrm>
            <a:off x="3145536" y="1650491"/>
            <a:ext cx="2772918" cy="1186053"/>
          </a:xfrm>
          <a:prstGeom prst="rect">
            <a:avLst/>
          </a:prstGeom>
          <a:solidFill>
            <a:srgbClr val="EEFAF0"/>
          </a:solidFill>
          <a:ln w="12700">
            <a:solidFill>
              <a:srgbClr val="88BB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2"/>
          <p:cNvSpPr/>
          <p:nvPr/>
        </p:nvSpPr>
        <p:spPr>
          <a:xfrm>
            <a:off x="3355086" y="1709929"/>
            <a:ext cx="2563368" cy="113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50" dirty="0">
                <a:solidFill>
                  <a:srgbClr val="1A33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[RPi4 — QNX </a:t>
            </a:r>
            <a:r>
              <a:rPr lang="en-US" sz="550" dirty="0" err="1">
                <a:solidFill>
                  <a:srgbClr val="1A33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Momentics</a:t>
            </a:r>
            <a:r>
              <a:rPr lang="en-US" sz="550" dirty="0">
                <a:solidFill>
                  <a:srgbClr val="1A33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RTOS]         </a:t>
            </a:r>
            <a:endParaRPr lang="en-US" sz="550" dirty="0"/>
          </a:p>
          <a:p>
            <a:pPr marL="0" indent="0">
              <a:buNone/>
            </a:pPr>
            <a:r>
              <a:rPr lang="en-US" sz="550" dirty="0">
                <a:solidFill>
                  <a:srgbClr val="1A33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USB Camera (connected to RPi4)           </a:t>
            </a:r>
            <a:endParaRPr lang="en-US" sz="550" dirty="0"/>
          </a:p>
          <a:p>
            <a:pPr marL="0" indent="0">
              <a:buNone/>
            </a:pPr>
            <a:r>
              <a:rPr lang="en-US" sz="550" dirty="0">
                <a:solidFill>
                  <a:srgbClr val="1A33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↓                            </a:t>
            </a:r>
            <a:endParaRPr lang="en-US" sz="550" dirty="0"/>
          </a:p>
          <a:p>
            <a:pPr marL="0" indent="0">
              <a:buNone/>
            </a:pPr>
            <a:r>
              <a:rPr lang="en-US" sz="550" dirty="0">
                <a:solidFill>
                  <a:srgbClr val="1A33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550" dirty="0" err="1">
                <a:solidFill>
                  <a:srgbClr val="1A33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MediaPipe</a:t>
            </a:r>
            <a:r>
              <a:rPr lang="en-US" sz="550" dirty="0">
                <a:solidFill>
                  <a:srgbClr val="1A33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ML — Pose Estimation           </a:t>
            </a:r>
            <a:endParaRPr lang="en-US" sz="550" dirty="0"/>
          </a:p>
          <a:p>
            <a:pPr marL="0" indent="0">
              <a:buNone/>
            </a:pPr>
            <a:r>
              <a:rPr lang="en-US" sz="550" dirty="0">
                <a:solidFill>
                  <a:srgbClr val="1A33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(runs on-device, 30fps)                  </a:t>
            </a:r>
            <a:endParaRPr lang="en-US" sz="550" dirty="0"/>
          </a:p>
          <a:p>
            <a:pPr marL="0" indent="0">
              <a:buNone/>
            </a:pPr>
            <a:r>
              <a:rPr lang="en-US" sz="550" dirty="0">
                <a:solidFill>
                  <a:srgbClr val="1A33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↓                            </a:t>
            </a:r>
            <a:endParaRPr lang="en-US" sz="550" dirty="0"/>
          </a:p>
          <a:p>
            <a:pPr marL="0" indent="0">
              <a:buNone/>
            </a:pPr>
            <a:r>
              <a:rPr lang="en-US" sz="550" dirty="0">
                <a:solidFill>
                  <a:srgbClr val="1A33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Gesture Classified + 2.5s Hold Timer     </a:t>
            </a:r>
            <a:endParaRPr lang="en-US" sz="550" dirty="0"/>
          </a:p>
          <a:p>
            <a:pPr marL="0" indent="0">
              <a:buNone/>
            </a:pPr>
            <a:r>
              <a:rPr lang="en-US" sz="550" dirty="0">
                <a:solidFill>
                  <a:srgbClr val="1A33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↓                            </a:t>
            </a:r>
            <a:endParaRPr lang="en-US" sz="550" dirty="0"/>
          </a:p>
          <a:p>
            <a:pPr marL="0" indent="0">
              <a:buNone/>
            </a:pPr>
            <a:r>
              <a:rPr lang="en-US" sz="550" dirty="0">
                <a:solidFill>
                  <a:srgbClr val="1A33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BME688 Sensor Fusion (temp/gas/humidity) </a:t>
            </a:r>
            <a:endParaRPr lang="en-US" sz="550" dirty="0"/>
          </a:p>
          <a:p>
            <a:pPr marL="0" indent="0">
              <a:buNone/>
            </a:pPr>
            <a:r>
              <a:rPr lang="en-US" sz="550" dirty="0">
                <a:solidFill>
                  <a:srgbClr val="1A33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↓                            </a:t>
            </a:r>
            <a:endParaRPr lang="en-US" sz="550" dirty="0"/>
          </a:p>
          <a:p>
            <a:pPr marL="0" indent="0">
              <a:buNone/>
            </a:pPr>
            <a:r>
              <a:rPr lang="en-US" sz="550" dirty="0">
                <a:solidFill>
                  <a:srgbClr val="1A33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Buzzer pattern + LED blink pattern       </a:t>
            </a:r>
            <a:endParaRPr lang="en-US" sz="550" dirty="0"/>
          </a:p>
          <a:p>
            <a:pPr marL="0" indent="0">
              <a:buNone/>
            </a:pPr>
            <a:r>
              <a:rPr lang="en-US" sz="550" dirty="0">
                <a:solidFill>
                  <a:srgbClr val="1A33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↓                            </a:t>
            </a:r>
            <a:endParaRPr lang="en-US" sz="550" dirty="0"/>
          </a:p>
          <a:p>
            <a:pPr marL="0" indent="0">
              <a:buNone/>
            </a:pPr>
            <a:r>
              <a:rPr lang="en-US" sz="550" dirty="0">
                <a:solidFill>
                  <a:srgbClr val="1A33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GSM SMS + GNSS GPS → Emergency Dept      </a:t>
            </a:r>
            <a:endParaRPr lang="en-US" sz="550" dirty="0"/>
          </a:p>
        </p:txBody>
      </p:sp>
      <p:sp>
        <p:nvSpPr>
          <p:cNvPr id="28" name="Text 23"/>
          <p:cNvSpPr/>
          <p:nvPr/>
        </p:nvSpPr>
        <p:spPr>
          <a:xfrm>
            <a:off x="3145536" y="2844736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u="sng" dirty="0">
                <a:solidFill>
                  <a:srgbClr val="2D2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Gestures &amp; Alert Routing</a:t>
            </a:r>
            <a:endParaRPr lang="en-US" sz="9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5142822"/>
              </p:ext>
            </p:extLst>
          </p:nvPr>
        </p:nvGraphicFramePr>
        <p:xfrm>
          <a:off x="3154680" y="3054096"/>
          <a:ext cx="2924048" cy="1709928"/>
        </p:xfrm>
        <a:graphic>
          <a:graphicData uri="http://schemas.openxmlformats.org/drawingml/2006/table">
            <a:tbl>
              <a:tblPr/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47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06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280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54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5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54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Gesture</a:t>
                      </a:r>
                      <a:endParaRPr lang="en-US" sz="5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54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Body Position</a:t>
                      </a:r>
                      <a:endParaRPr lang="en-US" sz="5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54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Alert</a:t>
                      </a:r>
                      <a:endParaRPr lang="en-US" sz="5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54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5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54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Arms Crossed on Chest</a:t>
                      </a:r>
                      <a:endParaRPr lang="en-US" sz="5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54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Both wrists cross to opposite side, elbows bent, wrists close together</a:t>
                      </a:r>
                      <a:endParaRPr lang="en-US" sz="5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54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!! MEDICAL EMERGENCY !!</a:t>
                      </a:r>
                      <a:endParaRPr lang="en-US" sz="5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54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5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54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Hands Up Spread</a:t>
                      </a:r>
                      <a:endParaRPr lang="en-US" sz="5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54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Both wrists raised above ears, spread wide apart — NOT clasped together</a:t>
                      </a:r>
                      <a:endParaRPr lang="en-US" sz="5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54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!! POLICE / SECURITY !!</a:t>
                      </a:r>
                      <a:endParaRPr lang="en-US" sz="5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54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5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54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T-Pose</a:t>
                      </a:r>
                      <a:endParaRPr lang="en-US" sz="5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54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Arms fully extended sideways at shoulder height; wrist span &gt;2.2× shoulder width, NOT above head</a:t>
                      </a:r>
                      <a:endParaRPr lang="en-US" sz="5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54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!! FIRE / DISASTER !!</a:t>
                      </a:r>
                      <a:endParaRPr lang="en-US" sz="5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54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5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54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Hands Behind Head</a:t>
                      </a:r>
                      <a:endParaRPr lang="en-US" sz="5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54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Each wrist near own ear, elbows flared wide, wrists at or below ear height</a:t>
                      </a:r>
                      <a:endParaRPr lang="en-US" sz="5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54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!! DISTRESS / TRAPPED !!</a:t>
                      </a:r>
                      <a:endParaRPr lang="en-US" sz="5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0" name="Text 24"/>
          <p:cNvSpPr/>
          <p:nvPr/>
        </p:nvSpPr>
        <p:spPr>
          <a:xfrm>
            <a:off x="3145536" y="476300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u="sng" dirty="0">
                <a:solidFill>
                  <a:srgbClr val="2D2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Alert SMS</a:t>
            </a:r>
            <a:endParaRPr lang="en-US" sz="900" dirty="0"/>
          </a:p>
        </p:txBody>
      </p:sp>
      <p:sp>
        <p:nvSpPr>
          <p:cNvPr id="31" name="Shape 25"/>
          <p:cNvSpPr/>
          <p:nvPr/>
        </p:nvSpPr>
        <p:spPr>
          <a:xfrm>
            <a:off x="3145536" y="4951476"/>
            <a:ext cx="2924048" cy="594360"/>
          </a:xfrm>
          <a:prstGeom prst="rect">
            <a:avLst/>
          </a:prstGeom>
          <a:solidFill>
            <a:srgbClr val="1A1A1A"/>
          </a:solidFill>
          <a:ln w="1270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2" name="Text 26"/>
          <p:cNvSpPr/>
          <p:nvPr/>
        </p:nvSpPr>
        <p:spPr>
          <a:xfrm>
            <a:off x="3230118" y="5008880"/>
            <a:ext cx="268833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!! MEDICAL EMERGENCY !!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Person: P1  |  Dept: AMBULANCE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Location: 17.3850°N, 78.4867°E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Temp: 36°C | Gas: NORMAL | Humidity: 52%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Time: 09:32:15</a:t>
            </a:r>
            <a:endParaRPr lang="en-US" sz="600" dirty="0"/>
          </a:p>
        </p:txBody>
      </p:sp>
      <p:sp>
        <p:nvSpPr>
          <p:cNvPr id="33" name="Text 27"/>
          <p:cNvSpPr/>
          <p:nvPr/>
        </p:nvSpPr>
        <p:spPr>
          <a:xfrm>
            <a:off x="3145536" y="555040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u="sng" dirty="0">
                <a:solidFill>
                  <a:srgbClr val="2D2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Components</a:t>
            </a:r>
            <a:endParaRPr lang="en-US" sz="900" dirty="0"/>
          </a:p>
        </p:txBody>
      </p:sp>
      <p:graphicFrame>
        <p:nvGraphicFramePr>
          <p:cNvPr id="34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3948711"/>
              </p:ext>
            </p:extLst>
          </p:nvPr>
        </p:nvGraphicFramePr>
        <p:xfrm>
          <a:off x="3163824" y="5737957"/>
          <a:ext cx="2914904" cy="1301496"/>
        </p:xfrm>
        <a:graphic>
          <a:graphicData uri="http://schemas.openxmlformats.org/drawingml/2006/table">
            <a:tbl>
              <a:tblPr/>
              <a:tblGrid>
                <a:gridCol w="10343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805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506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2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6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62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6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06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2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USB Camera (RPi4)</a:t>
                      </a:r>
                      <a:endParaRPr lang="en-US" sz="6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2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Captures human gestures on-device</a:t>
                      </a:r>
                      <a:endParaRPr lang="en-US" sz="6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06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2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RPi4 + QNX RTOS</a:t>
                      </a:r>
                      <a:endParaRPr lang="en-US" sz="6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2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Runs ML inference &amp; controls hardware</a:t>
                      </a:r>
                      <a:endParaRPr lang="en-US" sz="6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06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2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MediaPipe ML</a:t>
                      </a:r>
                      <a:endParaRPr lang="en-US" sz="6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2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On-device real-time pose detection</a:t>
                      </a:r>
                      <a:endParaRPr lang="en-US" sz="6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06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2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BME688 Sensor</a:t>
                      </a:r>
                      <a:endParaRPr lang="en-US" sz="6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2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Sensor fusion: temp, gas, humidity</a:t>
                      </a:r>
                      <a:endParaRPr lang="en-US" sz="6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06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2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GSM Module</a:t>
                      </a:r>
                      <a:endParaRPr lang="en-US" sz="6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2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Sends SMS alert to departments</a:t>
                      </a:r>
                      <a:endParaRPr lang="en-US" sz="6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06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2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GNSS Module</a:t>
                      </a:r>
                      <a:endParaRPr lang="en-US" sz="6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2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GPS coordinates embedded in SMS</a:t>
                      </a:r>
                      <a:endParaRPr lang="en-US" sz="6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5" name="Text 28"/>
          <p:cNvSpPr/>
          <p:nvPr/>
        </p:nvSpPr>
        <p:spPr>
          <a:xfrm>
            <a:off x="6199632" y="129844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u="sng" dirty="0">
                <a:solidFill>
                  <a:srgbClr val="2D2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900" dirty="0"/>
          </a:p>
        </p:txBody>
      </p:sp>
      <p:sp>
        <p:nvSpPr>
          <p:cNvPr id="36" name="Text 29"/>
          <p:cNvSpPr/>
          <p:nvPr/>
        </p:nvSpPr>
        <p:spPr>
          <a:xfrm>
            <a:off x="6199632" y="152704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Performance Metrics:</a:t>
            </a:r>
            <a:endParaRPr lang="en-US" sz="750" dirty="0"/>
          </a:p>
        </p:txBody>
      </p:sp>
      <p:sp>
        <p:nvSpPr>
          <p:cNvPr id="37" name="Shape 30"/>
          <p:cNvSpPr/>
          <p:nvPr/>
        </p:nvSpPr>
        <p:spPr>
          <a:xfrm>
            <a:off x="6199632" y="1773936"/>
            <a:ext cx="2834640" cy="219456"/>
          </a:xfrm>
          <a:prstGeom prst="rect">
            <a:avLst/>
          </a:prstGeom>
          <a:solidFill>
            <a:srgbClr val="EAF4EE"/>
          </a:solidFill>
          <a:ln w="6350">
            <a:solidFill>
              <a:srgbClr val="BBDD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1"/>
          <p:cNvSpPr/>
          <p:nvPr/>
        </p:nvSpPr>
        <p:spPr>
          <a:xfrm>
            <a:off x="6254496" y="1792224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Gesture Detection Accuracy</a:t>
            </a:r>
            <a:endParaRPr lang="en-US" sz="700" dirty="0"/>
          </a:p>
        </p:txBody>
      </p:sp>
      <p:sp>
        <p:nvSpPr>
          <p:cNvPr id="39" name="Text 32"/>
          <p:cNvSpPr/>
          <p:nvPr/>
        </p:nvSpPr>
        <p:spPr>
          <a:xfrm>
            <a:off x="8211312" y="1792224"/>
            <a:ext cx="804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2D2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94.7%</a:t>
            </a:r>
            <a:endParaRPr lang="en-US" sz="750" dirty="0"/>
          </a:p>
        </p:txBody>
      </p:sp>
      <p:sp>
        <p:nvSpPr>
          <p:cNvPr id="40" name="Shape 33"/>
          <p:cNvSpPr/>
          <p:nvPr/>
        </p:nvSpPr>
        <p:spPr>
          <a:xfrm>
            <a:off x="6199632" y="2029968"/>
            <a:ext cx="28346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BBDD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4"/>
          <p:cNvSpPr/>
          <p:nvPr/>
        </p:nvSpPr>
        <p:spPr>
          <a:xfrm>
            <a:off x="6254496" y="2048256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Dispatch Time</a:t>
            </a:r>
            <a:endParaRPr lang="en-US" sz="700" dirty="0"/>
          </a:p>
        </p:txBody>
      </p:sp>
      <p:sp>
        <p:nvSpPr>
          <p:cNvPr id="42" name="Text 35"/>
          <p:cNvSpPr/>
          <p:nvPr/>
        </p:nvSpPr>
        <p:spPr>
          <a:xfrm>
            <a:off x="8211312" y="2048256"/>
            <a:ext cx="804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2D2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3 sec</a:t>
            </a:r>
            <a:endParaRPr lang="en-US" sz="750" dirty="0"/>
          </a:p>
        </p:txBody>
      </p:sp>
      <p:sp>
        <p:nvSpPr>
          <p:cNvPr id="44" name="Text 37"/>
          <p:cNvSpPr/>
          <p:nvPr/>
        </p:nvSpPr>
        <p:spPr>
          <a:xfrm>
            <a:off x="6254496" y="230428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00" dirty="0"/>
          </a:p>
        </p:txBody>
      </p:sp>
      <p:sp>
        <p:nvSpPr>
          <p:cNvPr id="45" name="Text 38"/>
          <p:cNvSpPr/>
          <p:nvPr/>
        </p:nvSpPr>
        <p:spPr>
          <a:xfrm>
            <a:off x="8211312" y="2304288"/>
            <a:ext cx="804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750" dirty="0"/>
          </a:p>
        </p:txBody>
      </p:sp>
      <p:sp>
        <p:nvSpPr>
          <p:cNvPr id="46" name="Shape 39"/>
          <p:cNvSpPr/>
          <p:nvPr/>
        </p:nvSpPr>
        <p:spPr>
          <a:xfrm>
            <a:off x="6193538" y="2304288"/>
            <a:ext cx="28346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BBDDCC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47" name="Text 40"/>
          <p:cNvSpPr/>
          <p:nvPr/>
        </p:nvSpPr>
        <p:spPr>
          <a:xfrm>
            <a:off x="6249924" y="2331339"/>
            <a:ext cx="27843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Timer (false-alert guard)                                                                     </a:t>
            </a:r>
            <a:r>
              <a:rPr lang="en-US" sz="700" b="1" dirty="0">
                <a:solidFill>
                  <a:srgbClr val="2D2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 sec</a:t>
            </a:r>
            <a:endParaRPr lang="en-US" sz="700" dirty="0"/>
          </a:p>
        </p:txBody>
      </p:sp>
      <p:sp>
        <p:nvSpPr>
          <p:cNvPr id="48" name="Text 41"/>
          <p:cNvSpPr/>
          <p:nvPr/>
        </p:nvSpPr>
        <p:spPr>
          <a:xfrm>
            <a:off x="8211312" y="2560320"/>
            <a:ext cx="804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2D2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 sec</a:t>
            </a:r>
            <a:endParaRPr lang="en-US" sz="750" dirty="0"/>
          </a:p>
        </p:txBody>
      </p:sp>
      <p:sp>
        <p:nvSpPr>
          <p:cNvPr id="49" name="Shape 42"/>
          <p:cNvSpPr/>
          <p:nvPr/>
        </p:nvSpPr>
        <p:spPr>
          <a:xfrm>
            <a:off x="6193538" y="2578608"/>
            <a:ext cx="2834640" cy="219456"/>
          </a:xfrm>
          <a:prstGeom prst="rect">
            <a:avLst/>
          </a:prstGeom>
          <a:solidFill>
            <a:srgbClr val="EAF4EE"/>
          </a:solidFill>
          <a:ln w="6350">
            <a:solidFill>
              <a:srgbClr val="BBDDCC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50" name="Text 43"/>
          <p:cNvSpPr/>
          <p:nvPr/>
        </p:nvSpPr>
        <p:spPr>
          <a:xfrm>
            <a:off x="6248402" y="2596896"/>
            <a:ext cx="278587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Delivery Rate</a:t>
            </a:r>
            <a:r>
              <a:rPr lang="en-US" sz="700" b="1" dirty="0">
                <a:solidFill>
                  <a:srgbClr val="2D2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                                                                            99.2%</a:t>
            </a:r>
            <a:endParaRPr lang="en-US" sz="700" dirty="0"/>
          </a:p>
        </p:txBody>
      </p:sp>
      <p:sp>
        <p:nvSpPr>
          <p:cNvPr id="51" name="Text 44"/>
          <p:cNvSpPr/>
          <p:nvPr/>
        </p:nvSpPr>
        <p:spPr>
          <a:xfrm>
            <a:off x="8211312" y="2816352"/>
            <a:ext cx="804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2D2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99.2%</a:t>
            </a:r>
            <a:endParaRPr lang="en-US" sz="750" dirty="0"/>
          </a:p>
        </p:txBody>
      </p:sp>
      <p:sp>
        <p:nvSpPr>
          <p:cNvPr id="52" name="Shape 45"/>
          <p:cNvSpPr/>
          <p:nvPr/>
        </p:nvSpPr>
        <p:spPr>
          <a:xfrm>
            <a:off x="6193538" y="2834640"/>
            <a:ext cx="28346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BBDD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Text 46"/>
          <p:cNvSpPr/>
          <p:nvPr/>
        </p:nvSpPr>
        <p:spPr>
          <a:xfrm>
            <a:off x="6248402" y="2852928"/>
            <a:ext cx="27797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Operates Without Internet                                                            </a:t>
            </a:r>
            <a:r>
              <a:rPr lang="en-US" sz="700" b="1" dirty="0">
                <a:solidFill>
                  <a:srgbClr val="2D2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Yes(LAN/WIFI)</a:t>
            </a:r>
            <a:endParaRPr lang="en-US" sz="700" dirty="0"/>
          </a:p>
        </p:txBody>
      </p:sp>
      <p:sp>
        <p:nvSpPr>
          <p:cNvPr id="55" name="Text 48"/>
          <p:cNvSpPr/>
          <p:nvPr/>
        </p:nvSpPr>
        <p:spPr>
          <a:xfrm>
            <a:off x="6199632" y="3196622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u="sng" dirty="0">
                <a:solidFill>
                  <a:srgbClr val="2D2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Strengths</a:t>
            </a:r>
            <a:endParaRPr lang="en-US" sz="900" dirty="0"/>
          </a:p>
        </p:txBody>
      </p:sp>
      <p:sp>
        <p:nvSpPr>
          <p:cNvPr id="56" name="Shape 49"/>
          <p:cNvSpPr/>
          <p:nvPr/>
        </p:nvSpPr>
        <p:spPr>
          <a:xfrm>
            <a:off x="6208778" y="3474720"/>
            <a:ext cx="100584" cy="100584"/>
          </a:xfrm>
          <a:prstGeom prst="ellipse">
            <a:avLst/>
          </a:prstGeom>
          <a:solidFill>
            <a:srgbClr val="2D2D6B"/>
          </a:solidFill>
          <a:ln w="12700">
            <a:solidFill>
              <a:srgbClr val="2D2D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" name="Text 50"/>
          <p:cNvSpPr/>
          <p:nvPr/>
        </p:nvSpPr>
        <p:spPr>
          <a:xfrm>
            <a:off x="6355082" y="3438144"/>
            <a:ext cx="2688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Multi-department routing — each gesture routes to a different department</a:t>
            </a:r>
            <a:endParaRPr lang="en-US" sz="680" dirty="0"/>
          </a:p>
        </p:txBody>
      </p:sp>
      <p:sp>
        <p:nvSpPr>
          <p:cNvPr id="58" name="Shape 51"/>
          <p:cNvSpPr/>
          <p:nvPr/>
        </p:nvSpPr>
        <p:spPr>
          <a:xfrm>
            <a:off x="6208778" y="3675888"/>
            <a:ext cx="100584" cy="100584"/>
          </a:xfrm>
          <a:prstGeom prst="ellipse">
            <a:avLst/>
          </a:prstGeom>
          <a:solidFill>
            <a:srgbClr val="2D2D6B"/>
          </a:solidFill>
          <a:ln w="12700">
            <a:solidFill>
              <a:srgbClr val="2D2D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Text 52"/>
          <p:cNvSpPr/>
          <p:nvPr/>
        </p:nvSpPr>
        <p:spPr>
          <a:xfrm>
            <a:off x="6355082" y="3639312"/>
            <a:ext cx="2688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BME688 sensor fusion — validates fire alerts before dispatching GSM</a:t>
            </a:r>
            <a:endParaRPr lang="en-US" sz="680" dirty="0"/>
          </a:p>
        </p:txBody>
      </p:sp>
      <p:sp>
        <p:nvSpPr>
          <p:cNvPr id="60" name="Shape 53"/>
          <p:cNvSpPr/>
          <p:nvPr/>
        </p:nvSpPr>
        <p:spPr>
          <a:xfrm>
            <a:off x="6204204" y="4085844"/>
            <a:ext cx="100584" cy="100584"/>
          </a:xfrm>
          <a:prstGeom prst="ellipse">
            <a:avLst/>
          </a:prstGeom>
          <a:solidFill>
            <a:srgbClr val="2D2D6B"/>
          </a:solidFill>
          <a:ln w="12700">
            <a:solidFill>
              <a:srgbClr val="2D2D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1" name="Text 54"/>
          <p:cNvSpPr/>
          <p:nvPr/>
        </p:nvSpPr>
        <p:spPr>
          <a:xfrm>
            <a:off x="6355082" y="3840480"/>
            <a:ext cx="2688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embedded — all ML inference runs on-device on RPi4 + QNX RTOS</a:t>
            </a:r>
            <a:endParaRPr lang="en-US" sz="680" dirty="0"/>
          </a:p>
        </p:txBody>
      </p:sp>
      <p:sp>
        <p:nvSpPr>
          <p:cNvPr id="62" name="Shape 55"/>
          <p:cNvSpPr/>
          <p:nvPr/>
        </p:nvSpPr>
        <p:spPr>
          <a:xfrm>
            <a:off x="6199632" y="3881311"/>
            <a:ext cx="100584" cy="100584"/>
          </a:xfrm>
          <a:prstGeom prst="ellipse">
            <a:avLst/>
          </a:prstGeom>
          <a:solidFill>
            <a:srgbClr val="2D2D6B"/>
          </a:solidFill>
          <a:ln w="12700">
            <a:solidFill>
              <a:srgbClr val="2D2D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3" name="Text 56"/>
          <p:cNvSpPr/>
          <p:nvPr/>
        </p:nvSpPr>
        <p:spPr>
          <a:xfrm>
            <a:off x="6355082" y="4041648"/>
            <a:ext cx="2688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Multi-person detection — tracks up to 4 people simultaneously</a:t>
            </a:r>
            <a:endParaRPr lang="en-US" sz="680" dirty="0"/>
          </a:p>
        </p:txBody>
      </p:sp>
      <p:sp>
        <p:nvSpPr>
          <p:cNvPr id="64" name="Shape 57"/>
          <p:cNvSpPr/>
          <p:nvPr/>
        </p:nvSpPr>
        <p:spPr>
          <a:xfrm>
            <a:off x="6208778" y="4279392"/>
            <a:ext cx="100584" cy="100584"/>
          </a:xfrm>
          <a:prstGeom prst="ellipse">
            <a:avLst/>
          </a:prstGeom>
          <a:solidFill>
            <a:srgbClr val="2D2D6B"/>
          </a:solidFill>
          <a:ln w="12700">
            <a:solidFill>
              <a:srgbClr val="2D2D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5" name="Text 58"/>
          <p:cNvSpPr/>
          <p:nvPr/>
        </p:nvSpPr>
        <p:spPr>
          <a:xfrm>
            <a:off x="6355082" y="4242816"/>
            <a:ext cx="2688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Gesture hold timer — prevents false alerts, requires 2.5-second hold</a:t>
            </a:r>
            <a:endParaRPr lang="en-US" sz="680" dirty="0"/>
          </a:p>
        </p:txBody>
      </p:sp>
      <p:sp>
        <p:nvSpPr>
          <p:cNvPr id="66" name="Shape 59"/>
          <p:cNvSpPr/>
          <p:nvPr/>
        </p:nvSpPr>
        <p:spPr>
          <a:xfrm>
            <a:off x="6208778" y="4480560"/>
            <a:ext cx="100584" cy="100584"/>
          </a:xfrm>
          <a:prstGeom prst="ellipse">
            <a:avLst/>
          </a:prstGeom>
          <a:solidFill>
            <a:srgbClr val="2D2D6B"/>
          </a:solidFill>
          <a:ln w="12700">
            <a:solidFill>
              <a:srgbClr val="2D2D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7" name="Text 60"/>
          <p:cNvSpPr/>
          <p:nvPr/>
        </p:nvSpPr>
        <p:spPr>
          <a:xfrm>
            <a:off x="6355082" y="4443984"/>
            <a:ext cx="2688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overlay — live camera feed shows detection status on-screen</a:t>
            </a:r>
            <a:endParaRPr lang="en-US" sz="680" dirty="0"/>
          </a:p>
        </p:txBody>
      </p:sp>
      <p:sp>
        <p:nvSpPr>
          <p:cNvPr id="68" name="Text 61"/>
          <p:cNvSpPr/>
          <p:nvPr/>
        </p:nvSpPr>
        <p:spPr>
          <a:xfrm>
            <a:off x="6208778" y="4791456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u="sng" dirty="0">
                <a:solidFill>
                  <a:srgbClr val="2D2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900" dirty="0"/>
          </a:p>
        </p:txBody>
      </p:sp>
      <p:sp>
        <p:nvSpPr>
          <p:cNvPr id="69" name="Text 62"/>
          <p:cNvSpPr/>
          <p:nvPr/>
        </p:nvSpPr>
        <p:spPr>
          <a:xfrm>
            <a:off x="6208778" y="5020056"/>
            <a:ext cx="28346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n-US" sz="7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system demonstrates that non-verbal, AI-driven distress detection is viable as a fully embedded deployment on QNX RTOS. The combination of on-device MediaPipe pose estimation, deterministic QNX real-time scheduling, and multi-modal sensor fusion (GSM, GNSS, BME688) creates a robust emergency system that requires no internet, routes alerts intelligently, and eliminates false positives through environmental confirmation.</a:t>
            </a:r>
            <a:endParaRPr lang="en-US" sz="750" dirty="0"/>
          </a:p>
          <a:p>
            <a:pPr marL="0" indent="0" algn="just">
              <a:buNone/>
            </a:pPr>
            <a:endParaRPr lang="en-US" sz="750" dirty="0"/>
          </a:p>
          <a:p>
            <a:pPr marL="0" indent="0" algn="just">
              <a:buNone/>
            </a:pPr>
            <a:r>
              <a:rPr lang="en-US" sz="7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 includes wider gesture vocabulary, integration with national emergency APIs, nighttime IR camera support, and smart city deployment at scale.</a:t>
            </a:r>
            <a:endParaRPr lang="en-US" sz="750" dirty="0"/>
          </a:p>
        </p:txBody>
      </p:sp>
      <p:sp>
        <p:nvSpPr>
          <p:cNvPr id="70" name="Text 63"/>
          <p:cNvSpPr/>
          <p:nvPr/>
        </p:nvSpPr>
        <p:spPr>
          <a:xfrm>
            <a:off x="6199632" y="632374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u="sng" dirty="0">
                <a:solidFill>
                  <a:srgbClr val="2D2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900" dirty="0"/>
          </a:p>
        </p:txBody>
      </p:sp>
      <p:sp>
        <p:nvSpPr>
          <p:cNvPr id="71" name="Text 64"/>
          <p:cNvSpPr/>
          <p:nvPr/>
        </p:nvSpPr>
        <p:spPr>
          <a:xfrm>
            <a:off x="6199632" y="6534052"/>
            <a:ext cx="2834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MediaPipe Pose — Google Research, 2020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QNX RTOS Documentation — BlackBerry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BME688 Datasheet — Bosch Sensortec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PptxGenJS — gitbrent/PptxGenJS</a:t>
            </a:r>
            <a:endParaRPr lang="en-US" sz="750" dirty="0"/>
          </a:p>
        </p:txBody>
      </p:sp>
      <p:sp>
        <p:nvSpPr>
          <p:cNvPr id="72" name="Text 65"/>
          <p:cNvSpPr/>
          <p:nvPr/>
        </p:nvSpPr>
        <p:spPr>
          <a:xfrm>
            <a:off x="9235440" y="1298448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u="sng" dirty="0">
                <a:solidFill>
                  <a:srgbClr val="2D2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Approach &amp; QNX Integration</a:t>
            </a:r>
            <a:endParaRPr lang="en-US" sz="900" dirty="0"/>
          </a:p>
        </p:txBody>
      </p:sp>
      <p:sp>
        <p:nvSpPr>
          <p:cNvPr id="73" name="Text 66"/>
          <p:cNvSpPr/>
          <p:nvPr/>
        </p:nvSpPr>
        <p:spPr>
          <a:xfrm>
            <a:off x="9235440" y="1527048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QNX RTOS on RPi4:</a:t>
            </a:r>
            <a:endParaRPr lang="en-US" sz="750" dirty="0"/>
          </a:p>
        </p:txBody>
      </p:sp>
      <p:sp>
        <p:nvSpPr>
          <p:cNvPr id="74" name="Text 67"/>
          <p:cNvSpPr/>
          <p:nvPr/>
        </p:nvSpPr>
        <p:spPr>
          <a:xfrm>
            <a:off x="9235440" y="1755648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QNX Neutrino provides microkernel-based preemptive multitasking with hard real-time guarantees. Each hardware driver (GSM, GNSS, BME688, buzzer, LED) runs as an isolated process. If any component fails, the rest continue operating — ensuring the alert chain is never broken.</a:t>
            </a:r>
            <a:endParaRPr lang="en-US" sz="750" dirty="0"/>
          </a:p>
          <a:p>
            <a:pPr marL="0" indent="0">
              <a:buNone/>
            </a:pP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 pose estimation runs as a dedicated QNX process, feeding classified gesture codes to the alert dispatcher, which triggers all hardware peripherals concurrently within 200ms.</a:t>
            </a:r>
            <a:endParaRPr lang="en-US" sz="750" dirty="0"/>
          </a:p>
        </p:txBody>
      </p:sp>
      <p:sp>
        <p:nvSpPr>
          <p:cNvPr id="75" name="Text 68"/>
          <p:cNvSpPr/>
          <p:nvPr/>
        </p:nvSpPr>
        <p:spPr>
          <a:xfrm>
            <a:off x="9235440" y="2822448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u="sng" dirty="0">
                <a:solidFill>
                  <a:srgbClr val="2D2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&amp; Buzzer Patterns</a:t>
            </a:r>
            <a:endParaRPr lang="en-US" sz="900" dirty="0"/>
          </a:p>
        </p:txBody>
      </p:sp>
      <p:graphicFrame>
        <p:nvGraphicFramePr>
          <p:cNvPr id="76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1716075"/>
              </p:ext>
            </p:extLst>
          </p:nvPr>
        </p:nvGraphicFramePr>
        <p:xfrm>
          <a:off x="9235440" y="3032760"/>
          <a:ext cx="2313432" cy="1280160"/>
        </p:xfrm>
        <a:graphic>
          <a:graphicData uri="http://schemas.openxmlformats.org/drawingml/2006/table">
            <a:tbl>
              <a:tblPr/>
              <a:tblGrid>
                <a:gridCol w="6583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23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463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Gesture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Buzzer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LED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Dept.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80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Arms Crossed on Chest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quick beeps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 slow blink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Ambulance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80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Hands Up Spread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rapid beeps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Both LEDs alt.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Police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80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T-Pose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long beeps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 fast blink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Fire Stn.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80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Hands Behind Head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SOS beeps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 steady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Rescue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7" name="Text 69"/>
          <p:cNvSpPr/>
          <p:nvPr/>
        </p:nvSpPr>
        <p:spPr>
          <a:xfrm>
            <a:off x="9235440" y="4419600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u="sng" dirty="0">
                <a:solidFill>
                  <a:srgbClr val="2D2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Flow</a:t>
            </a:r>
            <a:endParaRPr lang="en-US" sz="900" dirty="0"/>
          </a:p>
        </p:txBody>
      </p:sp>
      <p:sp>
        <p:nvSpPr>
          <p:cNvPr id="78" name="Shape 70"/>
          <p:cNvSpPr/>
          <p:nvPr/>
        </p:nvSpPr>
        <p:spPr>
          <a:xfrm>
            <a:off x="9235440" y="4639056"/>
            <a:ext cx="201168" cy="201168"/>
          </a:xfrm>
          <a:prstGeom prst="ellipse">
            <a:avLst/>
          </a:prstGeom>
          <a:solidFill>
            <a:srgbClr val="2D2D6B"/>
          </a:solidFill>
          <a:ln w="12700">
            <a:solidFill>
              <a:srgbClr val="2D2D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9" name="Text 71"/>
          <p:cNvSpPr/>
          <p:nvPr/>
        </p:nvSpPr>
        <p:spPr>
          <a:xfrm>
            <a:off x="9235440" y="464667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1</a:t>
            </a:r>
            <a:endParaRPr lang="en-US" sz="700" dirty="0"/>
          </a:p>
        </p:txBody>
      </p:sp>
      <p:sp>
        <p:nvSpPr>
          <p:cNvPr id="80" name="Text 72"/>
          <p:cNvSpPr/>
          <p:nvPr/>
        </p:nvSpPr>
        <p:spPr>
          <a:xfrm>
            <a:off x="9482328" y="4639056"/>
            <a:ext cx="2542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USB Camera Frame Capture — RPi4 reads frames at ~30fps via V4L2</a:t>
            </a:r>
            <a:endParaRPr lang="en-US" sz="700" dirty="0"/>
          </a:p>
        </p:txBody>
      </p:sp>
      <p:sp>
        <p:nvSpPr>
          <p:cNvPr id="81" name="Shape 73"/>
          <p:cNvSpPr/>
          <p:nvPr/>
        </p:nvSpPr>
        <p:spPr>
          <a:xfrm>
            <a:off x="9235440" y="4913376"/>
            <a:ext cx="201168" cy="201168"/>
          </a:xfrm>
          <a:prstGeom prst="ellipse">
            <a:avLst/>
          </a:prstGeom>
          <a:solidFill>
            <a:srgbClr val="2D2D6B"/>
          </a:solidFill>
          <a:ln w="12700">
            <a:solidFill>
              <a:srgbClr val="2D2D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2" name="Text 74"/>
          <p:cNvSpPr/>
          <p:nvPr/>
        </p:nvSpPr>
        <p:spPr>
          <a:xfrm>
            <a:off x="9235440" y="492099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2</a:t>
            </a:r>
            <a:endParaRPr lang="en-US" sz="700" dirty="0"/>
          </a:p>
        </p:txBody>
      </p:sp>
      <p:sp>
        <p:nvSpPr>
          <p:cNvPr id="83" name="Text 75"/>
          <p:cNvSpPr/>
          <p:nvPr/>
        </p:nvSpPr>
        <p:spPr>
          <a:xfrm>
            <a:off x="9482328" y="4913376"/>
            <a:ext cx="2542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Pose Estimation (On-Device) — MediaPipe extracts 33 keypoints per person</a:t>
            </a:r>
            <a:endParaRPr lang="en-US" sz="700" dirty="0"/>
          </a:p>
        </p:txBody>
      </p:sp>
      <p:sp>
        <p:nvSpPr>
          <p:cNvPr id="84" name="Shape 76"/>
          <p:cNvSpPr/>
          <p:nvPr/>
        </p:nvSpPr>
        <p:spPr>
          <a:xfrm>
            <a:off x="9235440" y="5187696"/>
            <a:ext cx="201168" cy="201168"/>
          </a:xfrm>
          <a:prstGeom prst="ellipse">
            <a:avLst/>
          </a:prstGeom>
          <a:solidFill>
            <a:srgbClr val="2D2D6B"/>
          </a:solidFill>
          <a:ln w="12700">
            <a:solidFill>
              <a:srgbClr val="2D2D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5" name="Text 77"/>
          <p:cNvSpPr/>
          <p:nvPr/>
        </p:nvSpPr>
        <p:spPr>
          <a:xfrm>
            <a:off x="9235440" y="519531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3</a:t>
            </a:r>
            <a:endParaRPr lang="en-US" sz="700" dirty="0"/>
          </a:p>
        </p:txBody>
      </p:sp>
      <p:sp>
        <p:nvSpPr>
          <p:cNvPr id="86" name="Text 78"/>
          <p:cNvSpPr/>
          <p:nvPr/>
        </p:nvSpPr>
        <p:spPr>
          <a:xfrm>
            <a:off x="9482328" y="5187696"/>
            <a:ext cx="2542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Gesture Classification — Rule-based joint angle &amp; ratio matching</a:t>
            </a:r>
            <a:endParaRPr lang="en-US" sz="700" dirty="0"/>
          </a:p>
        </p:txBody>
      </p:sp>
      <p:sp>
        <p:nvSpPr>
          <p:cNvPr id="87" name="Shape 79"/>
          <p:cNvSpPr/>
          <p:nvPr/>
        </p:nvSpPr>
        <p:spPr>
          <a:xfrm>
            <a:off x="9235440" y="5462016"/>
            <a:ext cx="201168" cy="201168"/>
          </a:xfrm>
          <a:prstGeom prst="ellipse">
            <a:avLst/>
          </a:prstGeom>
          <a:solidFill>
            <a:srgbClr val="2D2D6B"/>
          </a:solidFill>
          <a:ln w="12700">
            <a:solidFill>
              <a:srgbClr val="2D2D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8" name="Text 80"/>
          <p:cNvSpPr/>
          <p:nvPr/>
        </p:nvSpPr>
        <p:spPr>
          <a:xfrm>
            <a:off x="9235440" y="546963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4</a:t>
            </a:r>
            <a:endParaRPr lang="en-US" sz="700" dirty="0"/>
          </a:p>
        </p:txBody>
      </p:sp>
      <p:sp>
        <p:nvSpPr>
          <p:cNvPr id="89" name="Text 81"/>
          <p:cNvSpPr/>
          <p:nvPr/>
        </p:nvSpPr>
        <p:spPr>
          <a:xfrm>
            <a:off x="9482328" y="5462016"/>
            <a:ext cx="2542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2.5s Confirmation Hold — QNX timer process prevents false triggers</a:t>
            </a:r>
            <a:endParaRPr lang="en-US" sz="700" dirty="0"/>
          </a:p>
        </p:txBody>
      </p:sp>
      <p:sp>
        <p:nvSpPr>
          <p:cNvPr id="90" name="Shape 82"/>
          <p:cNvSpPr/>
          <p:nvPr/>
        </p:nvSpPr>
        <p:spPr>
          <a:xfrm>
            <a:off x="9235440" y="5736336"/>
            <a:ext cx="201168" cy="201168"/>
          </a:xfrm>
          <a:prstGeom prst="ellipse">
            <a:avLst/>
          </a:prstGeom>
          <a:solidFill>
            <a:srgbClr val="2D2D6B"/>
          </a:solidFill>
          <a:ln w="12700">
            <a:solidFill>
              <a:srgbClr val="2D2D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1" name="Text 83"/>
          <p:cNvSpPr/>
          <p:nvPr/>
        </p:nvSpPr>
        <p:spPr>
          <a:xfrm>
            <a:off x="9235440" y="574395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5</a:t>
            </a:r>
            <a:endParaRPr lang="en-US" sz="700" dirty="0"/>
          </a:p>
        </p:txBody>
      </p:sp>
      <p:sp>
        <p:nvSpPr>
          <p:cNvPr id="92" name="Text 84"/>
          <p:cNvSpPr/>
          <p:nvPr/>
        </p:nvSpPr>
        <p:spPr>
          <a:xfrm>
            <a:off x="9482328" y="5736336"/>
            <a:ext cx="2542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BME688 Sensor Fusion — Environment data validates alert type</a:t>
            </a:r>
            <a:endParaRPr lang="en-US" sz="700" dirty="0"/>
          </a:p>
        </p:txBody>
      </p:sp>
      <p:sp>
        <p:nvSpPr>
          <p:cNvPr id="93" name="Shape 85"/>
          <p:cNvSpPr/>
          <p:nvPr/>
        </p:nvSpPr>
        <p:spPr>
          <a:xfrm>
            <a:off x="9235440" y="6010656"/>
            <a:ext cx="201168" cy="201168"/>
          </a:xfrm>
          <a:prstGeom prst="ellipse">
            <a:avLst/>
          </a:prstGeom>
          <a:solidFill>
            <a:srgbClr val="2D2D6B"/>
          </a:solidFill>
          <a:ln w="12700">
            <a:solidFill>
              <a:srgbClr val="2D2D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4" name="Text 86"/>
          <p:cNvSpPr/>
          <p:nvPr/>
        </p:nvSpPr>
        <p:spPr>
          <a:xfrm>
            <a:off x="9235440" y="601827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6</a:t>
            </a:r>
            <a:endParaRPr lang="en-US" sz="700" dirty="0"/>
          </a:p>
        </p:txBody>
      </p:sp>
      <p:sp>
        <p:nvSpPr>
          <p:cNvPr id="95" name="Text 87"/>
          <p:cNvSpPr/>
          <p:nvPr/>
        </p:nvSpPr>
        <p:spPr>
          <a:xfrm>
            <a:off x="9482328" y="6010656"/>
            <a:ext cx="2542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Dispatch — Buzzer + LED + GSM SMS + GNSS GPS fired</a:t>
            </a:r>
            <a:endParaRPr lang="en-US" sz="700" dirty="0"/>
          </a:p>
        </p:txBody>
      </p:sp>
      <p:sp>
        <p:nvSpPr>
          <p:cNvPr id="96" name="Text 88"/>
          <p:cNvSpPr/>
          <p:nvPr/>
        </p:nvSpPr>
        <p:spPr>
          <a:xfrm>
            <a:off x="9235440" y="6327648"/>
            <a:ext cx="2816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u="sng" dirty="0">
                <a:solidFill>
                  <a:srgbClr val="2D2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 Details</a:t>
            </a:r>
            <a:endParaRPr lang="en-US" sz="900" dirty="0"/>
          </a:p>
        </p:txBody>
      </p:sp>
      <p:sp>
        <p:nvSpPr>
          <p:cNvPr id="97" name="Text 89"/>
          <p:cNvSpPr/>
          <p:nvPr/>
        </p:nvSpPr>
        <p:spPr>
          <a:xfrm>
            <a:off x="9235440" y="6528816"/>
            <a:ext cx="2816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Member-1: </a:t>
            </a:r>
            <a:r>
              <a:rPr lang="en-US" sz="750" dirty="0" err="1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K.Vishnu</a:t>
            </a:r>
            <a:r>
              <a:rPr lang="en-US" sz="7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Varshith     </a:t>
            </a:r>
          </a:p>
          <a:p>
            <a:pPr marL="0" indent="0">
              <a:buNone/>
            </a:pPr>
            <a:r>
              <a:rPr lang="en-US" sz="7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Member-2: </a:t>
            </a:r>
            <a:r>
              <a:rPr lang="en-US" sz="750" dirty="0" err="1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K.V.N.Sai</a:t>
            </a:r>
            <a:r>
              <a:rPr lang="en-US" sz="7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Siddartha       </a:t>
            </a:r>
            <a:endParaRPr lang="en-US" sz="750" dirty="0"/>
          </a:p>
        </p:txBody>
      </p:sp>
      <p:pic>
        <p:nvPicPr>
          <p:cNvPr id="102" name="Picture 101">
            <a:extLst>
              <a:ext uri="{FF2B5EF4-FFF2-40B4-BE49-F238E27FC236}">
                <a16:creationId xmlns:a16="http://schemas.microsoft.com/office/drawing/2014/main" id="{6CBF87D4-5B33-B05C-6E3A-EE015E1AC7F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106" y="4954845"/>
            <a:ext cx="2931236" cy="20561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156</TotalTime>
  <Words>1000</Words>
  <Application>Microsoft Office PowerPoint</Application>
  <PresentationFormat>Widescreen</PresentationFormat>
  <Paragraphs>139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Consolas</vt:lpstr>
      <vt:lpstr>Trebuchet MS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Sashank K</cp:lastModifiedBy>
  <cp:revision>4</cp:revision>
  <dcterms:created xsi:type="dcterms:W3CDTF">2026-03-11T05:14:45Z</dcterms:created>
  <dcterms:modified xsi:type="dcterms:W3CDTF">2026-03-12T06:26:44Z</dcterms:modified>
</cp:coreProperties>
</file>